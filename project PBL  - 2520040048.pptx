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8"/>
  </p:notesMasterIdLst>
  <p:handoutMasterIdLst>
    <p:handoutMasterId r:id="rId19"/>
  </p:handoutMasterIdLst>
  <p:sldIdLst>
    <p:sldId id="314" r:id="rId3"/>
    <p:sldId id="323" r:id="rId4"/>
    <p:sldId id="266" r:id="rId5"/>
    <p:sldId id="341" r:id="rId6"/>
    <p:sldId id="342" r:id="rId7"/>
    <p:sldId id="343" r:id="rId8"/>
    <p:sldId id="344" r:id="rId9"/>
    <p:sldId id="345" r:id="rId10"/>
    <p:sldId id="346" r:id="rId11"/>
    <p:sldId id="340" r:id="rId12"/>
    <p:sldId id="349" r:id="rId13"/>
    <p:sldId id="350" r:id="rId14"/>
    <p:sldId id="347" r:id="rId15"/>
    <p:sldId id="348" r:id="rId16"/>
    <p:sldId id="33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BCDB23-F71F-45AC-95C4-53EA35851854}" v="25" dt="2026-03-04T03:42:43.0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82"/>
    <p:restoredTop sz="95833"/>
  </p:normalViewPr>
  <p:slideViewPr>
    <p:cSldViewPr snapToGrid="0" snapToObjects="1">
      <p:cViewPr varScale="1">
        <p:scale>
          <a:sx n="87" d="100"/>
          <a:sy n="87" d="100"/>
        </p:scale>
        <p:origin x="317" y="58"/>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3/9/2026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3/9/2026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3BF734CB-DFAB-944A-8037-9643745D8F20}" type="datetime1">
              <a:rPr lang="en-IN" smtClean="0"/>
              <a:t>09-03-2026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6918335F-2E5B-B14E-9706-E237C81E4155}" type="datetime1">
              <a:rPr lang="en-IN" smtClean="0"/>
              <a:t>09-03-2026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15BD6649-7156-A341-B9F2-F045B7551E13}" type="datetime1">
              <a:rPr lang="en-IN" smtClean="0"/>
              <a:t>09-03-2026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C9977CD1-E97C-BA41-8E49-9F39B98FFBE8}" type="datetime1">
              <a:rPr lang="en-IN" smtClean="0"/>
              <a:t>09-03-2026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F3DDBCA1-9406-7A44-8A76-1046B4040777}" type="datetime1">
              <a:rPr lang="en-IN" smtClean="0"/>
              <a:t>09-03-2026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173030211           Department of CSE</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C7FB085D-B69B-9C45-93A5-77F47F2F6792}" type="datetime1">
              <a:rPr lang="en-IN" smtClean="0"/>
              <a:t>09-03-2026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C61B69B7-E8EF-6346-9390-671C5B22ACF3}" type="datetime1">
              <a:rPr lang="en-IN" smtClean="0"/>
              <a:t>09-03-2026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B920709D-BF3C-5743-B60D-B01C16014A7B}" type="datetime1">
              <a:rPr lang="en-IN" smtClean="0"/>
              <a:t>09-03-2026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B04444B0-6575-954F-AAA2-CB0D0417F745}" type="datetime1">
              <a:rPr lang="en-IN" smtClean="0"/>
              <a:t>09-03-2026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6DE7A436-9AA5-6C4B-AFF1-C34F60A9AB89}" type="datetime1">
              <a:rPr lang="en-IN" smtClean="0"/>
              <a:t>09-03-2026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6BF141C7-EF5A-1D4A-89F0-79C7DE818D53}" type="datetime1">
              <a:rPr lang="en-IN" smtClean="0"/>
              <a:t>09-03-2026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8C868A0C-C998-984C-ABE3-A33473D7CABD}" type="datetime1">
              <a:rPr lang="en-IN" smtClean="0"/>
              <a:t>09-03-2026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BDD2EF84-6667-8447-AC88-082F9D71D82C}" type="datetime1">
              <a:rPr lang="en-IN" smtClean="0"/>
              <a:t>09-03-2026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61563FD6-5C64-304A-9680-469E8D83D1BF}" type="datetime1">
              <a:rPr lang="en-IN" smtClean="0"/>
              <a:t>09-03-2026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D93985EC-8C41-0649-B43C-28421C497AA5}" type="datetime1">
              <a:rPr lang="en-IN" smtClean="0"/>
              <a:t>09-03-2026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85D85A-3465-384D-962A-D11BB8B39525}" type="datetime1">
              <a:rPr lang="en-IN" smtClean="0"/>
              <a:t>09-03-2026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F4C6E9-161C-B44B-AD70-8813DADCDED1}" type="datetime1">
              <a:rPr lang="en-IN" smtClean="0"/>
              <a:t>09-03-2026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494057" y="136525"/>
            <a:ext cx="11543614" cy="1128381"/>
          </a:xfrm>
        </p:spPr>
        <p:txBody>
          <a:bodyPr>
            <a:noAutofit/>
          </a:bodyPr>
          <a:lstStyle/>
          <a:p>
            <a:pPr algn="ctr">
              <a:lnSpc>
                <a:spcPct val="100000"/>
              </a:lnSpc>
            </a:pPr>
            <a:r>
              <a:rPr lang="en-US" sz="2400" dirty="0" smtClean="0">
                <a:solidFill>
                  <a:srgbClr val="0070C0"/>
                </a:solidFill>
                <a:latin typeface="+mn-lt"/>
                <a:cs typeface="Arial" panose="020B0604020202020204" pitchFamily="34" charset="0"/>
              </a:rPr>
              <a:t>Title:</a:t>
            </a:r>
            <a:r>
              <a:rPr lang="fr-FR" sz="2400" dirty="0"/>
              <a:t>ATM Machine Digital Transaction model</a:t>
            </a:r>
            <a:endParaRPr lang="en-US" sz="2400" dirty="0">
              <a:solidFill>
                <a:srgbClr val="FF0000"/>
              </a:solidFill>
              <a:latin typeface="+mn-lt"/>
              <a:cs typeface="Arial" panose="020B0604020202020204" pitchFamily="34" charset="0"/>
            </a:endParaRPr>
          </a:p>
        </p:txBody>
      </p:sp>
      <p:sp>
        <p:nvSpPr>
          <p:cNvPr id="3" name="Content Placeholder 2">
            <a:extLst>
              <a:ext uri="{FF2B5EF4-FFF2-40B4-BE49-F238E27FC236}">
                <a16:creationId xmlns:a16="http://schemas.microsoft.com/office/drawing/2014/main" id="{7AEAE0CE-45A1-A1FF-31F4-66CECAEF3059}"/>
              </a:ext>
            </a:extLst>
          </p:cNvPr>
          <p:cNvSpPr>
            <a:spLocks noGrp="1"/>
          </p:cNvSpPr>
          <p:nvPr>
            <p:ph sz="half" idx="1"/>
          </p:nvPr>
        </p:nvSpPr>
        <p:spPr>
          <a:xfrm>
            <a:off x="838200" y="1150130"/>
            <a:ext cx="10515600" cy="1097555"/>
          </a:xfrm>
        </p:spPr>
        <p:txBody>
          <a:bodyPr>
            <a:normAutofit fontScale="25000" lnSpcReduction="20000"/>
          </a:bodyPr>
          <a:lstStyle/>
          <a:p>
            <a:pPr marL="0" indent="0" algn="ctr">
              <a:buNone/>
            </a:pPr>
            <a:r>
              <a:rPr lang="en-US" sz="9600" dirty="0"/>
              <a:t>Student Name</a:t>
            </a:r>
            <a:r>
              <a:rPr lang="en-US" sz="9600" dirty="0" smtClean="0"/>
              <a:t>: V. Sri Bhargavi</a:t>
            </a:r>
            <a:endParaRPr lang="en-US" sz="9600" dirty="0"/>
          </a:p>
          <a:p>
            <a:pPr marL="0" indent="0" algn="ctr">
              <a:buNone/>
            </a:pPr>
            <a:r>
              <a:rPr lang="en-US" sz="9600" dirty="0"/>
              <a:t>Student ID: </a:t>
            </a:r>
            <a:r>
              <a:rPr lang="en-US" sz="9600" dirty="0" smtClean="0"/>
              <a:t>2520040048</a:t>
            </a:r>
            <a:endParaRPr lang="en-US" sz="2400" dirty="0"/>
          </a:p>
          <a:p>
            <a:pPr marL="0" indent="0" algn="ctr">
              <a:buNone/>
            </a:pPr>
            <a:r>
              <a:rPr lang="en-US" sz="11200" dirty="0" smtClean="0"/>
              <a:t>Cluster:2</a:t>
            </a:r>
            <a:endParaRPr lang="en-US" sz="11200" dirty="0"/>
          </a:p>
          <a:p>
            <a:pPr marL="0" indent="0" algn="ctr">
              <a:buNone/>
            </a:pPr>
            <a:r>
              <a:rPr lang="en-US" sz="11200" dirty="0"/>
              <a:t>Section: 7</a:t>
            </a: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fld id="{D4ABCEED-36AB-D94A-B562-4D3E096B39D1}" type="datetime1">
              <a:rPr lang="en-IN" smtClean="0"/>
              <a:t>09-03-2026</a:t>
            </a:fld>
            <a:endParaRPr lang="en-US"/>
          </a:p>
        </p:txBody>
      </p:sp>
      <p:pic>
        <p:nvPicPr>
          <p:cNvPr id="12" name="Picture 11" descr="A picture containing shape&#10;&#10;Description automatically generated">
            <a:extLst>
              <a:ext uri="{FF2B5EF4-FFF2-40B4-BE49-F238E27FC236}">
                <a16:creationId xmlns:a16="http://schemas.microsoft.com/office/drawing/2014/main" id="{22EBCDF0-8C0C-C908-85EA-FD8A72825B21}"/>
              </a:ext>
            </a:extLst>
          </p:cNvPr>
          <p:cNvPicPr>
            <a:picLocks noChangeAspect="1"/>
          </p:cNvPicPr>
          <p:nvPr/>
        </p:nvPicPr>
        <p:blipFill>
          <a:blip r:embed="rId2"/>
          <a:stretch>
            <a:fillRect/>
          </a:stretch>
        </p:blipFill>
        <p:spPr>
          <a:xfrm>
            <a:off x="5356361" y="5015918"/>
            <a:ext cx="1725712" cy="930978"/>
          </a:xfrm>
          <a:prstGeom prst="rect">
            <a:avLst/>
          </a:prstGeom>
        </p:spPr>
      </p:pic>
      <p:sp>
        <p:nvSpPr>
          <p:cNvPr id="13" name="Content Placeholder 3">
            <a:extLst>
              <a:ext uri="{FF2B5EF4-FFF2-40B4-BE49-F238E27FC236}">
                <a16:creationId xmlns:a16="http://schemas.microsoft.com/office/drawing/2014/main" id="{3F9DE7D0-41AC-90DD-3065-235240261B1B}"/>
              </a:ext>
            </a:extLst>
          </p:cNvPr>
          <p:cNvSpPr txBox="1">
            <a:spLocks/>
          </p:cNvSpPr>
          <p:nvPr/>
        </p:nvSpPr>
        <p:spPr>
          <a:xfrm>
            <a:off x="838200" y="3332480"/>
            <a:ext cx="11199471" cy="1571945"/>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8600" dirty="0"/>
              <a:t>Under the Guidance </a:t>
            </a:r>
          </a:p>
          <a:p>
            <a:pPr marL="0" indent="0" algn="ctr">
              <a:buNone/>
            </a:pPr>
            <a:r>
              <a:rPr lang="en-US" sz="8600" dirty="0"/>
              <a:t>of </a:t>
            </a:r>
            <a:endParaRPr lang="en-US" sz="8600" dirty="0">
              <a:solidFill>
                <a:srgbClr val="00B050"/>
              </a:solidFill>
            </a:endParaRPr>
          </a:p>
          <a:p>
            <a:pPr marL="0" indent="0" algn="ctr">
              <a:buNone/>
            </a:pPr>
            <a:r>
              <a:rPr lang="en-US" sz="8600" dirty="0">
                <a:solidFill>
                  <a:srgbClr val="00B050"/>
                </a:solidFill>
              </a:rPr>
              <a:t>Supervisor Name: </a:t>
            </a:r>
            <a:r>
              <a:rPr lang="en-US" sz="8600" dirty="0" err="1">
                <a:solidFill>
                  <a:srgbClr val="00B050"/>
                </a:solidFill>
              </a:rPr>
              <a:t>xxxxxxxx</a:t>
            </a:r>
            <a:endParaRPr lang="en-US" sz="8600" dirty="0">
              <a:solidFill>
                <a:srgbClr val="00B050"/>
              </a:solidFill>
            </a:endParaRPr>
          </a:p>
          <a:p>
            <a:pPr marL="0" indent="0" algn="ctr">
              <a:buNone/>
            </a:pPr>
            <a:r>
              <a:rPr lang="en-US" sz="8600" dirty="0">
                <a:solidFill>
                  <a:srgbClr val="00B050"/>
                </a:solidFill>
              </a:rPr>
              <a:t>Assistant Professor</a:t>
            </a:r>
          </a:p>
          <a:p>
            <a:pPr marL="0" indent="0" algn="ctr">
              <a:buNone/>
            </a:pPr>
            <a:r>
              <a:rPr lang="en-US" sz="8600" dirty="0">
                <a:solidFill>
                  <a:srgbClr val="00B050"/>
                </a:solidFill>
              </a:rPr>
              <a:t>Department of CSE</a:t>
            </a:r>
          </a:p>
          <a:p>
            <a:pPr marL="0" indent="0">
              <a:buFont typeface="Arial" panose="020B0604020202020204" pitchFamily="34" charset="0"/>
              <a:buNone/>
            </a:pPr>
            <a:endParaRPr lang="en-US" sz="2400" dirty="0">
              <a:solidFill>
                <a:srgbClr val="00B050"/>
              </a:solidFill>
            </a:endParaRPr>
          </a:p>
        </p:txBody>
      </p:sp>
      <p:sp>
        <p:nvSpPr>
          <p:cNvPr id="5" name="Slide Number Placeholder 4">
            <a:extLst>
              <a:ext uri="{FF2B5EF4-FFF2-40B4-BE49-F238E27FC236}">
                <a16:creationId xmlns:a16="http://schemas.microsoft.com/office/drawing/2014/main" id="{8A4C03D2-3952-BF4D-18CA-C2C8547E2A2A}"/>
              </a:ext>
            </a:extLst>
          </p:cNvPr>
          <p:cNvSpPr>
            <a:spLocks noGrp="1"/>
          </p:cNvSpPr>
          <p:nvPr>
            <p:ph type="sldNum" sz="quarter" idx="12"/>
          </p:nvPr>
        </p:nvSpPr>
        <p:spPr/>
        <p:txBody>
          <a:bodyPr/>
          <a:lstStyle/>
          <a:p>
            <a:fld id="{B961B71F-4B40-8942-BB88-E0F5C0B46E10}" type="slidenum">
              <a:rPr lang="en-US" smtClean="0"/>
              <a:t>1</a:t>
            </a:fld>
            <a:endParaRPr lang="en-US"/>
          </a:p>
        </p:txBody>
      </p:sp>
    </p:spTree>
    <p:extLst>
      <p:ext uri="{BB962C8B-B14F-4D97-AF65-F5344CB8AC3E}">
        <p14:creationId xmlns:p14="http://schemas.microsoft.com/office/powerpoint/2010/main" val="1017016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Abstract</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fontScale="85000" lnSpcReduction="10000"/>
          </a:bodyPr>
          <a:lstStyle/>
          <a:p>
            <a:r>
              <a:rPr lang="en-US" dirty="0"/>
              <a:t>The ATM Machine </a:t>
            </a:r>
            <a:r>
              <a:rPr lang="fr-FR" dirty="0"/>
              <a:t>Digital Transaction model </a:t>
            </a:r>
            <a:r>
              <a:rPr lang="en-US" dirty="0"/>
              <a:t>is a browser-based banking application developed using HTML, CSS, and JavaScript. It replicates real-time ATM operations through a secure three-level authentication mechanism that includes mobile number entry, One-Time Password (OTP) verification, and ATM PIN validation. This layered authentication enhances security before granting access to account features, ensuring safe and controlled user access</a:t>
            </a:r>
            <a:r>
              <a:rPr lang="en-US" dirty="0" smtClean="0"/>
              <a:t>.</a:t>
            </a:r>
          </a:p>
          <a:p>
            <a:r>
              <a:rPr lang="en-US" dirty="0"/>
              <a:t>After successful login, the application enables users to perform essential banking activities such as deposit, withdrawal, internal and external transfers, interest calculation, PIN modification, card blocking, QR code generation, and transaction history viewing. Account balance, daily withdrawal limits, and transaction records are maintained using structured data handling within the program. The project demonstrates the practical implementation of secure authentication, transaction handling, and interactive user interface design in a digital banking simulation environment.</a:t>
            </a:r>
            <a:endParaRPr lang="en-IN"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2</a:t>
            </a:fld>
            <a:endParaRPr lang="en-US"/>
          </a:p>
        </p:txBody>
      </p:sp>
    </p:spTree>
    <p:extLst>
      <p:ext uri="{BB962C8B-B14F-4D97-AF65-F5344CB8AC3E}">
        <p14:creationId xmlns:p14="http://schemas.microsoft.com/office/powerpoint/2010/main" val="27157837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4352192" y="0"/>
            <a:ext cx="3297115" cy="1310055"/>
          </a:xfrm>
        </p:spPr>
        <p:txBody>
          <a:bodyPr>
            <a:normAutofit fontScale="90000"/>
          </a:bodyPr>
          <a:lstStyle/>
          <a:p>
            <a:pPr lvl="0" eaLnBrk="0" fontAlgn="base" hangingPunct="0">
              <a:lnSpc>
                <a:spcPct val="100000"/>
              </a:lnSpc>
              <a:spcAft>
                <a:spcPct val="0"/>
              </a:spcAft>
            </a:pPr>
            <a:r>
              <a:rPr lang="en-US" altLang="en-US" dirty="0">
                <a:latin typeface="Arial" panose="020B0604020202020204" pitchFamily="34" charset="0"/>
              </a:rPr>
              <a:t/>
            </a:r>
            <a:br>
              <a:rPr lang="en-US" altLang="en-US" dirty="0">
                <a:latin typeface="Arial" panose="020B0604020202020204" pitchFamily="34" charset="0"/>
              </a:rPr>
            </a:br>
            <a:r>
              <a:rPr lang="en-US" b="1" dirty="0" smtClean="0"/>
              <a:t>Existing </a:t>
            </a:r>
            <a:r>
              <a:rPr lang="en-US" b="1" dirty="0"/>
              <a:t>System </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2CB9F02-6AB8-A348-9013-8FCBB8174821}" type="datetime1">
              <a:rPr lang="en-IN" smtClean="0"/>
              <a:t>09-03-2026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11" name="Rectangle 5"/>
          <p:cNvSpPr>
            <a:spLocks noGrp="1" noChangeArrowheads="1"/>
          </p:cNvSpPr>
          <p:nvPr>
            <p:ph idx="1"/>
          </p:nvPr>
        </p:nvSpPr>
        <p:spPr bwMode="auto">
          <a:xfrm>
            <a:off x="838200" y="1739136"/>
            <a:ext cx="11057792"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Traditional ATM systems use </a:t>
            </a:r>
            <a:r>
              <a:rPr kumimoji="0" lang="en-US" altLang="en-US" sz="2400" i="0" u="none" strike="noStrike" cap="none" normalizeH="0" baseline="0" dirty="0" smtClean="0">
                <a:ln>
                  <a:noFill/>
                </a:ln>
                <a:solidFill>
                  <a:schemeClr val="tx1"/>
                </a:solidFill>
                <a:effectLst/>
                <a:latin typeface="Arial" panose="020B0604020202020204" pitchFamily="34" charset="0"/>
              </a:rPr>
              <a:t>ATM cards and PIN authentication </a:t>
            </a:r>
            <a:r>
              <a:rPr kumimoji="0" lang="en-US" altLang="en-US" sz="2400" b="0" i="0" u="none" strike="noStrike" cap="none" normalizeH="0" baseline="0" dirty="0" smtClean="0">
                <a:ln>
                  <a:noFill/>
                </a:ln>
                <a:solidFill>
                  <a:schemeClr val="tx1"/>
                </a:solidFill>
                <a:effectLst/>
                <a:latin typeface="Arial" panose="020B0604020202020204" pitchFamily="34" charset="0"/>
              </a:rPr>
              <a:t>for accessing banking services.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Users must </a:t>
            </a:r>
            <a:r>
              <a:rPr kumimoji="0" lang="en-US" altLang="en-US" sz="2400" i="0" u="none" strike="noStrike" cap="none" normalizeH="0" baseline="0" dirty="0" smtClean="0">
                <a:ln>
                  <a:noFill/>
                </a:ln>
                <a:solidFill>
                  <a:schemeClr val="tx1"/>
                </a:solidFill>
                <a:effectLst/>
                <a:latin typeface="Arial" panose="020B0604020202020204" pitchFamily="34" charset="0"/>
              </a:rPr>
              <a:t>insert the card into the ATM machine </a:t>
            </a:r>
            <a:r>
              <a:rPr kumimoji="0" lang="en-US" altLang="en-US" sz="2400" b="0" i="0" u="none" strike="noStrike" cap="none" normalizeH="0" baseline="0" dirty="0" smtClean="0">
                <a:ln>
                  <a:noFill/>
                </a:ln>
                <a:solidFill>
                  <a:schemeClr val="tx1"/>
                </a:solidFill>
                <a:effectLst/>
                <a:latin typeface="Arial" panose="020B0604020202020204" pitchFamily="34" charset="0"/>
              </a:rPr>
              <a:t>to start transactions.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The system allows </a:t>
            </a:r>
            <a:r>
              <a:rPr kumimoji="0" lang="en-US" altLang="en-US" sz="2400" i="0" u="none" strike="noStrike" cap="none" normalizeH="0" baseline="0" dirty="0" smtClean="0">
                <a:ln>
                  <a:noFill/>
                </a:ln>
                <a:solidFill>
                  <a:schemeClr val="tx1"/>
                </a:solidFill>
                <a:effectLst/>
                <a:latin typeface="Arial" panose="020B0604020202020204" pitchFamily="34" charset="0"/>
              </a:rPr>
              <a:t>basic operations such as balance inquiry, cash withdrawal, and deposit.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Security mainly depends on </a:t>
            </a:r>
            <a:r>
              <a:rPr kumimoji="0" lang="en-US" altLang="en-US" sz="2400" i="0" u="none" strike="noStrike" cap="none" normalizeH="0" baseline="0" dirty="0" smtClean="0">
                <a:ln>
                  <a:noFill/>
                </a:ln>
                <a:solidFill>
                  <a:schemeClr val="tx1"/>
                </a:solidFill>
                <a:effectLst/>
                <a:latin typeface="Arial" panose="020B0604020202020204" pitchFamily="34" charset="0"/>
              </a:rPr>
              <a:t>PIN verification</a:t>
            </a:r>
            <a:r>
              <a:rPr kumimoji="0" lang="en-US" altLang="en-US" sz="2400" b="0" i="0" u="none" strike="noStrike" cap="none" normalizeH="0" baseline="0" dirty="0" smtClean="0">
                <a:ln>
                  <a:noFill/>
                </a:ln>
                <a:solidFill>
                  <a:schemeClr val="tx1"/>
                </a:solidFill>
                <a:effectLst/>
                <a:latin typeface="Arial" panose="020B0604020202020204" pitchFamily="34" charset="0"/>
              </a:rPr>
              <a:t>, which can be risky if the PIN is exposed.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There is </a:t>
            </a:r>
            <a:r>
              <a:rPr kumimoji="0" lang="en-US" altLang="en-US" sz="2400" i="0" u="none" strike="noStrike" cap="none" normalizeH="0" baseline="0" dirty="0" smtClean="0">
                <a:ln>
                  <a:noFill/>
                </a:ln>
                <a:solidFill>
                  <a:schemeClr val="tx1"/>
                </a:solidFill>
                <a:effectLst/>
                <a:latin typeface="Arial" panose="020B0604020202020204" pitchFamily="34" charset="0"/>
              </a:rPr>
              <a:t>no OTP-based authentication for additional security</a:t>
            </a:r>
            <a:r>
              <a:rPr kumimoji="0" lang="en-US" altLang="en-US" sz="24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Transaction records are usually </a:t>
            </a:r>
            <a:r>
              <a:rPr kumimoji="0" lang="en-US" altLang="en-US" sz="2400" i="0" u="none" strike="noStrike" cap="none" normalizeH="0" baseline="0" dirty="0" smtClean="0">
                <a:ln>
                  <a:noFill/>
                </a:ln>
                <a:solidFill>
                  <a:schemeClr val="tx1"/>
                </a:solidFill>
                <a:effectLst/>
                <a:latin typeface="Arial" panose="020B0604020202020204" pitchFamily="34" charset="0"/>
              </a:rPr>
              <a:t>not easily accessible to users in digital format</a:t>
            </a:r>
            <a:r>
              <a:rPr kumimoji="0" lang="en-US" altLang="en-US" sz="24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The system does </a:t>
            </a:r>
            <a:r>
              <a:rPr kumimoji="0" lang="en-US" altLang="en-US" sz="2400" i="0" u="none" strike="noStrike" cap="none" normalizeH="0" baseline="0" dirty="0" smtClean="0">
                <a:ln>
                  <a:noFill/>
                </a:ln>
                <a:solidFill>
                  <a:schemeClr val="tx1"/>
                </a:solidFill>
                <a:effectLst/>
                <a:latin typeface="Arial" panose="020B0604020202020204" pitchFamily="34" charset="0"/>
              </a:rPr>
              <a:t>not provide features like QR code generation or PDF account statements.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Limited functionality compared to modern </a:t>
            </a:r>
            <a:r>
              <a:rPr kumimoji="0" lang="en-US" altLang="en-US" sz="2400" i="0" u="none" strike="noStrike" cap="none" normalizeH="0" baseline="0" dirty="0" smtClean="0">
                <a:ln>
                  <a:noFill/>
                </a:ln>
                <a:solidFill>
                  <a:schemeClr val="tx1"/>
                </a:solidFill>
                <a:effectLst/>
                <a:latin typeface="Arial" panose="020B0604020202020204" pitchFamily="34" charset="0"/>
              </a:rPr>
              <a:t>digital banking systems</a:t>
            </a:r>
            <a:r>
              <a:rPr kumimoji="0" lang="en-US" altLang="en-US" sz="2400" b="0" i="0" u="none" strike="noStrike" cap="none" normalizeH="0" baseline="0" dirty="0" smtClean="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9308333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E7308-1D11-0801-FB87-8CFF8CD98E9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EAE696E-C5CB-1479-F98C-F7C2D0B7BED0}"/>
              </a:ext>
            </a:extLst>
          </p:cNvPr>
          <p:cNvSpPr>
            <a:spLocks noGrp="1"/>
          </p:cNvSpPr>
          <p:nvPr>
            <p:ph type="title"/>
          </p:nvPr>
        </p:nvSpPr>
        <p:spPr>
          <a:xfrm>
            <a:off x="1180618" y="347541"/>
            <a:ext cx="10173182" cy="1128009"/>
          </a:xfrm>
        </p:spPr>
        <p:txBody>
          <a:bodyPr/>
          <a:lstStyle/>
          <a:p>
            <a:pPr algn="ctr"/>
            <a:r>
              <a:rPr lang="en-US" b="1" dirty="0"/>
              <a:t>Proposed System</a:t>
            </a:r>
          </a:p>
        </p:txBody>
      </p:sp>
      <p:sp>
        <p:nvSpPr>
          <p:cNvPr id="5" name="Date Placeholder 4">
            <a:extLst>
              <a:ext uri="{FF2B5EF4-FFF2-40B4-BE49-F238E27FC236}">
                <a16:creationId xmlns:a16="http://schemas.microsoft.com/office/drawing/2014/main" id="{DBF95472-1444-D525-21F0-49779A036CF4}"/>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F5E105F9-7400-1835-C4B4-B38C94DE631B}"/>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F9D399E1-BA43-10D5-C92A-C058676C1ABA}"/>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2" name="Content Placeholder 1"/>
          <p:cNvSpPr>
            <a:spLocks noGrp="1" noChangeArrowheads="1"/>
          </p:cNvSpPr>
          <p:nvPr>
            <p:ph idx="1"/>
          </p:nvPr>
        </p:nvSpPr>
        <p:spPr bwMode="auto">
          <a:xfrm>
            <a:off x="477716" y="1425767"/>
            <a:ext cx="11213592"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The proposed system is a </a:t>
            </a:r>
            <a:r>
              <a:rPr kumimoji="0" lang="en-US" altLang="en-US" sz="2400" i="0" u="none" strike="noStrike" cap="none" normalizeH="0" baseline="0" dirty="0" smtClean="0">
                <a:ln>
                  <a:noFill/>
                </a:ln>
                <a:solidFill>
                  <a:schemeClr val="tx1"/>
                </a:solidFill>
                <a:effectLst/>
                <a:latin typeface="Arial" panose="020B0604020202020204" pitchFamily="34" charset="0"/>
              </a:rPr>
              <a:t>web-based ATM simulation system </a:t>
            </a:r>
            <a:r>
              <a:rPr kumimoji="0" lang="en-US" altLang="en-US" sz="2400" b="0" i="0" u="none" strike="noStrike" cap="none" normalizeH="0" baseline="0" dirty="0" smtClean="0">
                <a:ln>
                  <a:noFill/>
                </a:ln>
                <a:solidFill>
                  <a:schemeClr val="tx1"/>
                </a:solidFill>
                <a:effectLst/>
                <a:latin typeface="Arial" panose="020B0604020202020204" pitchFamily="34" charset="0"/>
              </a:rPr>
              <a:t>developed using </a:t>
            </a:r>
            <a:r>
              <a:rPr kumimoji="0" lang="en-US" altLang="en-US" sz="2400" i="0" u="none" strike="noStrike" cap="none" normalizeH="0" baseline="0" dirty="0" smtClean="0">
                <a:ln>
                  <a:noFill/>
                </a:ln>
                <a:solidFill>
                  <a:schemeClr val="tx1"/>
                </a:solidFill>
                <a:effectLst/>
                <a:latin typeface="Arial" panose="020B0604020202020204" pitchFamily="34" charset="0"/>
              </a:rPr>
              <a:t>HTML, CSS, and JavaScript.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It provides </a:t>
            </a:r>
            <a:r>
              <a:rPr kumimoji="0" lang="en-US" altLang="en-US" sz="2400" i="0" u="none" strike="noStrike" cap="none" normalizeH="0" baseline="0" dirty="0" smtClean="0">
                <a:ln>
                  <a:noFill/>
                </a:ln>
                <a:solidFill>
                  <a:schemeClr val="tx1"/>
                </a:solidFill>
                <a:effectLst/>
                <a:latin typeface="Arial" panose="020B0604020202020204" pitchFamily="34" charset="0"/>
              </a:rPr>
              <a:t>multi-level authentication using mobile number, OTP verification, and PIN login.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Users can perform banking operations such as </a:t>
            </a:r>
            <a:r>
              <a:rPr kumimoji="0" lang="en-US" altLang="en-US" sz="2400" i="0" u="none" strike="noStrike" cap="none" normalizeH="0" baseline="0" dirty="0" smtClean="0">
                <a:ln>
                  <a:noFill/>
                </a:ln>
                <a:solidFill>
                  <a:schemeClr val="tx1"/>
                </a:solidFill>
                <a:effectLst/>
                <a:latin typeface="Arial" panose="020B0604020202020204" pitchFamily="34" charset="0"/>
              </a:rPr>
              <a:t>deposit, withdrawal, internal transfer, and external transfer.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The system maintains </a:t>
            </a:r>
            <a:r>
              <a:rPr kumimoji="0" lang="en-US" altLang="en-US" sz="2400" i="0" u="none" strike="noStrike" cap="none" normalizeH="0" baseline="0" dirty="0" smtClean="0">
                <a:ln>
                  <a:noFill/>
                </a:ln>
                <a:solidFill>
                  <a:schemeClr val="tx1"/>
                </a:solidFill>
                <a:effectLst/>
                <a:latin typeface="Arial" panose="020B0604020202020204" pitchFamily="34" charset="0"/>
              </a:rPr>
              <a:t>transaction history and displays the last five transactions</a:t>
            </a:r>
            <a:r>
              <a:rPr kumimoji="0" lang="en-US" altLang="en-US" sz="24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It includes additional features like </a:t>
            </a:r>
            <a:r>
              <a:rPr kumimoji="0" lang="en-US" altLang="en-US" sz="2400" i="0" u="none" strike="noStrike" cap="none" normalizeH="0" baseline="0" dirty="0" smtClean="0">
                <a:ln>
                  <a:noFill/>
                </a:ln>
                <a:solidFill>
                  <a:schemeClr val="tx1"/>
                </a:solidFill>
                <a:effectLst/>
                <a:latin typeface="Arial" panose="020B0604020202020204" pitchFamily="34" charset="0"/>
              </a:rPr>
              <a:t>interest calculation, QR code generation, and PDF account statement download.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Users can also </a:t>
            </a:r>
            <a:r>
              <a:rPr kumimoji="0" lang="en-US" altLang="en-US" sz="2400" i="0" u="none" strike="noStrike" cap="none" normalizeH="0" baseline="0" dirty="0" smtClean="0">
                <a:ln>
                  <a:noFill/>
                </a:ln>
                <a:solidFill>
                  <a:schemeClr val="tx1"/>
                </a:solidFill>
                <a:effectLst/>
                <a:latin typeface="Arial" panose="020B0604020202020204" pitchFamily="34" charset="0"/>
              </a:rPr>
              <a:t>change their ATM PIN and block their card</a:t>
            </a:r>
            <a:r>
              <a:rPr kumimoji="0" lang="en-US" altLang="en-US" sz="2400" b="0" i="0" u="none" strike="noStrike" cap="none" normalizeH="0" baseline="0" dirty="0" smtClean="0">
                <a:ln>
                  <a:noFill/>
                </a:ln>
                <a:solidFill>
                  <a:schemeClr val="tx1"/>
                </a:solidFill>
                <a:effectLst/>
                <a:latin typeface="Arial" panose="020B0604020202020204" pitchFamily="34" charset="0"/>
              </a:rPr>
              <a:t> for security purposes.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The system improves </a:t>
            </a:r>
            <a:r>
              <a:rPr kumimoji="0" lang="en-US" altLang="en-US" sz="2400" i="0" u="none" strike="noStrike" cap="none" normalizeH="0" baseline="0" dirty="0" smtClean="0">
                <a:ln>
                  <a:noFill/>
                </a:ln>
                <a:solidFill>
                  <a:schemeClr val="tx1"/>
                </a:solidFill>
                <a:effectLst/>
                <a:latin typeface="Arial" panose="020B0604020202020204" pitchFamily="34" charset="0"/>
              </a:rPr>
              <a:t>security, accessibility, and convenience</a:t>
            </a:r>
            <a:r>
              <a:rPr kumimoji="0" lang="en-US" altLang="en-US" sz="2400" b="0" i="0" u="none" strike="noStrike" cap="none" normalizeH="0" baseline="0" dirty="0" smtClean="0">
                <a:ln>
                  <a:noFill/>
                </a:ln>
                <a:solidFill>
                  <a:schemeClr val="tx1"/>
                </a:solidFill>
                <a:effectLst/>
                <a:latin typeface="Arial" panose="020B0604020202020204" pitchFamily="34" charset="0"/>
              </a:rPr>
              <a:t> compared to traditional ATM systems.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It provides a </a:t>
            </a:r>
            <a:r>
              <a:rPr kumimoji="0" lang="en-US" altLang="en-US" sz="2400" i="0" u="none" strike="noStrike" cap="none" normalizeH="0" baseline="0" dirty="0" smtClean="0">
                <a:ln>
                  <a:noFill/>
                </a:ln>
                <a:solidFill>
                  <a:schemeClr val="tx1"/>
                </a:solidFill>
                <a:effectLst/>
                <a:latin typeface="Arial" panose="020B0604020202020204" pitchFamily="34" charset="0"/>
              </a:rPr>
              <a:t>simple and user-friendly interface for digital banking operations</a:t>
            </a:r>
            <a:r>
              <a:rPr kumimoji="0" lang="en-US" altLang="en-US" sz="2400" b="0" i="0" u="none" strike="noStrike" cap="none" normalizeH="0" baseline="0" dirty="0" smtClean="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32054848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A1740-4A22-BB35-FC5B-E9B78149554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17383E4-A635-5D2C-0BA9-6A9D4A506E92}"/>
              </a:ext>
            </a:extLst>
          </p:cNvPr>
          <p:cNvSpPr>
            <a:spLocks noGrp="1"/>
          </p:cNvSpPr>
          <p:nvPr>
            <p:ph type="title"/>
          </p:nvPr>
        </p:nvSpPr>
        <p:spPr>
          <a:xfrm>
            <a:off x="1180618" y="365125"/>
            <a:ext cx="10173182" cy="1128009"/>
          </a:xfrm>
        </p:spPr>
        <p:txBody>
          <a:bodyPr/>
          <a:lstStyle/>
          <a:p>
            <a:pPr algn="ctr"/>
            <a:r>
              <a:rPr lang="en-US" b="1" dirty="0"/>
              <a:t>System Architecture</a:t>
            </a:r>
          </a:p>
        </p:txBody>
      </p:sp>
      <p:sp>
        <p:nvSpPr>
          <p:cNvPr id="9" name="Content Placeholder 8">
            <a:extLst>
              <a:ext uri="{FF2B5EF4-FFF2-40B4-BE49-F238E27FC236}">
                <a16:creationId xmlns:a16="http://schemas.microsoft.com/office/drawing/2014/main" id="{BB15296F-156D-BE47-727B-C34C7CDD40D4}"/>
              </a:ext>
            </a:extLst>
          </p:cNvPr>
          <p:cNvSpPr>
            <a:spLocks noGrp="1"/>
          </p:cNvSpPr>
          <p:nvPr>
            <p:ph idx="1"/>
          </p:nvPr>
        </p:nvSpPr>
        <p:spPr>
          <a:xfrm>
            <a:off x="838200" y="1493134"/>
            <a:ext cx="10515600" cy="4683829"/>
          </a:xfrm>
        </p:spPr>
        <p:txBody>
          <a:bodyPr>
            <a:normAutofit fontScale="70000" lnSpcReduction="20000"/>
          </a:bodyPr>
          <a:lstStyle/>
          <a:p>
            <a:r>
              <a:rPr lang="en-IN" dirty="0"/>
              <a:t>The system follows a simple client-side architecture using web technologies.</a:t>
            </a:r>
          </a:p>
          <a:p>
            <a:r>
              <a:rPr lang="en-IN" dirty="0"/>
              <a:t>Components:</a:t>
            </a:r>
          </a:p>
          <a:p>
            <a:r>
              <a:rPr lang="en-IN" dirty="0"/>
              <a:t>User Interface (Frontend</a:t>
            </a:r>
            <a:r>
              <a:rPr lang="en-IN" dirty="0" smtClean="0"/>
              <a:t>):</a:t>
            </a:r>
            <a:endParaRPr lang="en-IN" dirty="0"/>
          </a:p>
          <a:p>
            <a:pPr lvl="1"/>
            <a:r>
              <a:rPr lang="en-IN" dirty="0"/>
              <a:t>Built using HTML and CSS</a:t>
            </a:r>
          </a:p>
          <a:p>
            <a:pPr lvl="1"/>
            <a:r>
              <a:rPr lang="en-IN" dirty="0"/>
              <a:t>Provides pages for login, transactions, and account details</a:t>
            </a:r>
          </a:p>
          <a:p>
            <a:r>
              <a:rPr lang="en-IN" dirty="0"/>
              <a:t>Application </a:t>
            </a:r>
            <a:r>
              <a:rPr lang="en-IN" dirty="0" smtClean="0"/>
              <a:t>Logic</a:t>
            </a:r>
            <a:r>
              <a:rPr lang="en-IN" dirty="0"/>
              <a:t>:</a:t>
            </a:r>
          </a:p>
          <a:p>
            <a:pPr lvl="1"/>
            <a:r>
              <a:rPr lang="en-IN" dirty="0"/>
              <a:t>Implemented using JavaScript</a:t>
            </a:r>
          </a:p>
          <a:p>
            <a:pPr lvl="1"/>
            <a:r>
              <a:rPr lang="en-IN" dirty="0"/>
              <a:t>Handles authentication, transactions, and calculations</a:t>
            </a:r>
          </a:p>
          <a:p>
            <a:r>
              <a:rPr lang="en-IN" dirty="0"/>
              <a:t>Data </a:t>
            </a:r>
            <a:r>
              <a:rPr lang="en-IN" dirty="0" smtClean="0"/>
              <a:t>Storage:</a:t>
            </a:r>
            <a:endParaRPr lang="en-IN" dirty="0"/>
          </a:p>
          <a:p>
            <a:pPr lvl="1"/>
            <a:r>
              <a:rPr lang="en-IN" dirty="0"/>
              <a:t>Account data stored in JavaScript objects</a:t>
            </a:r>
          </a:p>
          <a:p>
            <a:pPr lvl="1"/>
            <a:r>
              <a:rPr lang="en-IN" dirty="0"/>
              <a:t>Stores balance, bank name, limit, and transaction history</a:t>
            </a:r>
          </a:p>
          <a:p>
            <a:r>
              <a:rPr lang="en-IN" dirty="0"/>
              <a:t>External </a:t>
            </a:r>
            <a:r>
              <a:rPr lang="en-IN" dirty="0" smtClean="0"/>
              <a:t>Libraries:</a:t>
            </a:r>
            <a:endParaRPr lang="en-IN" dirty="0"/>
          </a:p>
          <a:p>
            <a:pPr lvl="1"/>
            <a:r>
              <a:rPr lang="en-IN" dirty="0"/>
              <a:t>QRCode.js for generating QR codes</a:t>
            </a:r>
          </a:p>
          <a:p>
            <a:pPr lvl="1"/>
            <a:r>
              <a:rPr lang="en-IN" dirty="0" err="1"/>
              <a:t>jsPDF</a:t>
            </a:r>
            <a:r>
              <a:rPr lang="en-IN" dirty="0"/>
              <a:t> for generating PDF account statements</a:t>
            </a:r>
          </a:p>
          <a:p>
            <a:r>
              <a:rPr lang="en-IN" dirty="0"/>
              <a:t>Flow</a:t>
            </a:r>
            <a:r>
              <a:rPr lang="en-IN" dirty="0" smtClean="0"/>
              <a:t>:</a:t>
            </a:r>
            <a:r>
              <a:rPr lang="en-IN" dirty="0"/>
              <a:t/>
            </a:r>
            <a:br>
              <a:rPr lang="en-IN" dirty="0"/>
            </a:br>
            <a:r>
              <a:rPr lang="en-IN" dirty="0"/>
              <a:t>User → OTP Verification → PIN Login → Banking Operations → Transaction History / PDF / QR</a:t>
            </a:r>
          </a:p>
          <a:p>
            <a:endParaRPr lang="en-US" dirty="0"/>
          </a:p>
        </p:txBody>
      </p:sp>
      <p:sp>
        <p:nvSpPr>
          <p:cNvPr id="5" name="Date Placeholder 4">
            <a:extLst>
              <a:ext uri="{FF2B5EF4-FFF2-40B4-BE49-F238E27FC236}">
                <a16:creationId xmlns:a16="http://schemas.microsoft.com/office/drawing/2014/main" id="{ABAD3843-97BD-682A-B84E-8FDB1825801E}"/>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8AA237BD-B76F-738D-5648-B271AAD57998}"/>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27B2409B-FFAD-25CD-834C-0C2CA4A71B30}"/>
              </a:ext>
            </a:extLst>
          </p:cNvPr>
          <p:cNvSpPr>
            <a:spLocks noGrp="1"/>
          </p:cNvSpPr>
          <p:nvPr>
            <p:ph type="sldNum" sz="quarter" idx="12"/>
          </p:nvPr>
        </p:nvSpPr>
        <p:spPr/>
        <p:txBody>
          <a:bodyPr/>
          <a:lstStyle/>
          <a:p>
            <a:fld id="{B961B71F-4B40-8942-BB88-E0F5C0B46E10}" type="slidenum">
              <a:rPr lang="en-US" smtClean="0"/>
              <a:t>5</a:t>
            </a:fld>
            <a:endParaRPr lang="en-US"/>
          </a:p>
        </p:txBody>
      </p:sp>
      <p:pic>
        <p:nvPicPr>
          <p:cNvPr id="2" name="Picture 1"/>
          <p:cNvPicPr>
            <a:picLocks noChangeAspect="1"/>
          </p:cNvPicPr>
          <p:nvPr/>
        </p:nvPicPr>
        <p:blipFill>
          <a:blip r:embed="rId2"/>
          <a:stretch>
            <a:fillRect/>
          </a:stretch>
        </p:blipFill>
        <p:spPr>
          <a:xfrm>
            <a:off x="8610599" y="1802423"/>
            <a:ext cx="3144716" cy="3719146"/>
          </a:xfrm>
          <a:prstGeom prst="rect">
            <a:avLst/>
          </a:prstGeom>
        </p:spPr>
      </p:pic>
    </p:spTree>
    <p:extLst>
      <p:ext uri="{BB962C8B-B14F-4D97-AF65-F5344CB8AC3E}">
        <p14:creationId xmlns:p14="http://schemas.microsoft.com/office/powerpoint/2010/main" val="3489011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03485-1CDC-6A29-86F1-EC5F9BB7E72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F8E0586-CE85-480D-585E-FCD3C3448CF2}"/>
              </a:ext>
            </a:extLst>
          </p:cNvPr>
          <p:cNvSpPr>
            <a:spLocks noGrp="1"/>
          </p:cNvSpPr>
          <p:nvPr>
            <p:ph type="title"/>
          </p:nvPr>
        </p:nvSpPr>
        <p:spPr>
          <a:xfrm>
            <a:off x="1180618" y="365125"/>
            <a:ext cx="10173182" cy="1128009"/>
          </a:xfrm>
        </p:spPr>
        <p:txBody>
          <a:bodyPr/>
          <a:lstStyle/>
          <a:p>
            <a:pPr algn="ctr"/>
            <a:r>
              <a:rPr lang="en-US" b="1" dirty="0"/>
              <a:t>Project Modules</a:t>
            </a:r>
          </a:p>
        </p:txBody>
      </p:sp>
      <p:sp>
        <p:nvSpPr>
          <p:cNvPr id="9" name="Content Placeholder 8">
            <a:extLst>
              <a:ext uri="{FF2B5EF4-FFF2-40B4-BE49-F238E27FC236}">
                <a16:creationId xmlns:a16="http://schemas.microsoft.com/office/drawing/2014/main" id="{1890F206-B37F-761D-F471-0BF91F889799}"/>
              </a:ext>
            </a:extLst>
          </p:cNvPr>
          <p:cNvSpPr>
            <a:spLocks noGrp="1"/>
          </p:cNvSpPr>
          <p:nvPr>
            <p:ph idx="1"/>
          </p:nvPr>
        </p:nvSpPr>
        <p:spPr/>
        <p:txBody>
          <a:bodyPr>
            <a:normAutofit/>
          </a:bodyPr>
          <a:lstStyle/>
          <a:p>
            <a:endParaRPr lang="en-IN" dirty="0"/>
          </a:p>
          <a:p>
            <a:endParaRPr lang="en-US" dirty="0"/>
          </a:p>
        </p:txBody>
      </p:sp>
      <p:sp>
        <p:nvSpPr>
          <p:cNvPr id="5" name="Date Placeholder 4">
            <a:extLst>
              <a:ext uri="{FF2B5EF4-FFF2-40B4-BE49-F238E27FC236}">
                <a16:creationId xmlns:a16="http://schemas.microsoft.com/office/drawing/2014/main" id="{919FF571-AABB-DBF0-2720-7F01DFDDF1CF}"/>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ECAF6678-7BBF-2FBC-8619-C887BD26D4F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E45A9859-4671-FF5D-1356-4CDA5C5CDEA3}"/>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2" name="Rectangle 1"/>
          <p:cNvSpPr>
            <a:spLocks noChangeArrowheads="1"/>
          </p:cNvSpPr>
          <p:nvPr/>
        </p:nvSpPr>
        <p:spPr bwMode="auto">
          <a:xfrm>
            <a:off x="668215" y="1941784"/>
            <a:ext cx="10568354"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Arial" panose="020B0604020202020204" pitchFamily="34" charset="0"/>
              </a:rPr>
              <a:t>Authentication Module</a:t>
            </a:r>
            <a:r>
              <a:rPr kumimoji="0" lang="en-US" altLang="en-US" sz="2400" b="0" i="0" u="none" strike="noStrike" cap="none" normalizeH="0" baseline="0" dirty="0" smtClean="0">
                <a:ln>
                  <a:noFill/>
                </a:ln>
                <a:solidFill>
                  <a:schemeClr val="tx1"/>
                </a:solidFill>
                <a:effectLst/>
                <a:latin typeface="Arial" panose="020B0604020202020204" pitchFamily="34" charset="0"/>
              </a:rPr>
              <a:t> – Handles mobile number, OTP verification, and     PIN login.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Arial" panose="020B0604020202020204" pitchFamily="34" charset="0"/>
              </a:rPr>
              <a:t>Account Module</a:t>
            </a:r>
            <a:r>
              <a:rPr kumimoji="0" lang="en-US" altLang="en-US" sz="2400" b="0" i="0" u="none" strike="noStrike" cap="none" normalizeH="0" baseline="0" dirty="0" smtClean="0">
                <a:ln>
                  <a:noFill/>
                </a:ln>
                <a:solidFill>
                  <a:schemeClr val="tx1"/>
                </a:solidFill>
                <a:effectLst/>
                <a:latin typeface="Arial" panose="020B0604020202020204" pitchFamily="34" charset="0"/>
              </a:rPr>
              <a:t> – Displays bank name, balance, and daily transaction limit.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Arial" panose="020B0604020202020204" pitchFamily="34" charset="0"/>
              </a:rPr>
              <a:t>Transaction Module</a:t>
            </a:r>
            <a:r>
              <a:rPr kumimoji="0" lang="en-US" altLang="en-US" sz="2400" b="0" i="0" u="none" strike="noStrike" cap="none" normalizeH="0" baseline="0" dirty="0" smtClean="0">
                <a:ln>
                  <a:noFill/>
                </a:ln>
                <a:solidFill>
                  <a:schemeClr val="tx1"/>
                </a:solidFill>
                <a:effectLst/>
                <a:latin typeface="Arial" panose="020B0604020202020204" pitchFamily="34" charset="0"/>
              </a:rPr>
              <a:t> – Performs deposit, withdrawal, and money transfers.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Arial" panose="020B0604020202020204" pitchFamily="34" charset="0"/>
              </a:rPr>
              <a:t>History Module</a:t>
            </a:r>
            <a:r>
              <a:rPr kumimoji="0" lang="en-US" altLang="en-US" sz="2400" b="0" i="0" u="none" strike="noStrike" cap="none" normalizeH="0" baseline="0" dirty="0" smtClean="0">
                <a:ln>
                  <a:noFill/>
                </a:ln>
                <a:solidFill>
                  <a:schemeClr val="tx1"/>
                </a:solidFill>
                <a:effectLst/>
                <a:latin typeface="Arial" panose="020B0604020202020204" pitchFamily="34" charset="0"/>
              </a:rPr>
              <a:t> – Stores and shows transaction history and last 5 transactions.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Arial" panose="020B0604020202020204" pitchFamily="34" charset="0"/>
              </a:rPr>
              <a:t>Security Module</a:t>
            </a:r>
            <a:r>
              <a:rPr kumimoji="0" lang="en-US" altLang="en-US" sz="2400" b="0" i="0" u="none" strike="noStrike" cap="none" normalizeH="0" baseline="0" dirty="0" smtClean="0">
                <a:ln>
                  <a:noFill/>
                </a:ln>
                <a:solidFill>
                  <a:schemeClr val="tx1"/>
                </a:solidFill>
                <a:effectLst/>
                <a:latin typeface="Arial" panose="020B0604020202020204" pitchFamily="34" charset="0"/>
              </a:rPr>
              <a:t> – Allows PIN change and ATM card blocking.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Arial" panose="020B0604020202020204" pitchFamily="34" charset="0"/>
              </a:rPr>
              <a:t>Report Module</a:t>
            </a:r>
            <a:r>
              <a:rPr kumimoji="0" lang="en-US" altLang="en-US" sz="2400" b="0" i="0" u="none" strike="noStrike" cap="none" normalizeH="0" baseline="0" dirty="0" smtClean="0">
                <a:ln>
                  <a:noFill/>
                </a:ln>
                <a:solidFill>
                  <a:schemeClr val="tx1"/>
                </a:solidFill>
                <a:effectLst/>
                <a:latin typeface="Arial" panose="020B0604020202020204" pitchFamily="34" charset="0"/>
              </a:rPr>
              <a:t> – Generates QR code and downloads account statement as PDF</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40729656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73125-DE57-89FD-81B9-AA8B783FC87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87EB9E5-2196-BA25-5BC0-0ADC2050CEF9}"/>
              </a:ext>
            </a:extLst>
          </p:cNvPr>
          <p:cNvSpPr>
            <a:spLocks noGrp="1"/>
          </p:cNvSpPr>
          <p:nvPr>
            <p:ph type="title"/>
          </p:nvPr>
        </p:nvSpPr>
        <p:spPr>
          <a:xfrm>
            <a:off x="1180618" y="365125"/>
            <a:ext cx="10173182" cy="1128009"/>
          </a:xfrm>
        </p:spPr>
        <p:txBody>
          <a:bodyPr/>
          <a:lstStyle/>
          <a:p>
            <a:pPr algn="ctr"/>
            <a:r>
              <a:rPr lang="en-US" b="1" dirty="0"/>
              <a:t>Objectives</a:t>
            </a:r>
          </a:p>
        </p:txBody>
      </p:sp>
      <p:sp>
        <p:nvSpPr>
          <p:cNvPr id="9" name="Content Placeholder 8">
            <a:extLst>
              <a:ext uri="{FF2B5EF4-FFF2-40B4-BE49-F238E27FC236}">
                <a16:creationId xmlns:a16="http://schemas.microsoft.com/office/drawing/2014/main" id="{363C44B8-E8B6-5D9D-90FF-ECD825D72DFC}"/>
              </a:ext>
            </a:extLst>
          </p:cNvPr>
          <p:cNvSpPr>
            <a:spLocks noGrp="1"/>
          </p:cNvSpPr>
          <p:nvPr>
            <p:ph idx="1"/>
          </p:nvPr>
        </p:nvSpPr>
        <p:spPr/>
        <p:txBody>
          <a:bodyPr>
            <a:normAutofit/>
          </a:bodyPr>
          <a:lstStyle/>
          <a:p>
            <a:r>
              <a:rPr lang="en-US" dirty="0"/>
              <a:t>To develop a secure ATM simulation using web technologies.</a:t>
            </a:r>
          </a:p>
          <a:p>
            <a:r>
              <a:rPr lang="en-US" dirty="0"/>
              <a:t>To implement multi-level authentication using OTP and PIN.</a:t>
            </a:r>
          </a:p>
          <a:p>
            <a:r>
              <a:rPr lang="en-US" dirty="0"/>
              <a:t>To provide basic banking operations such as deposit, withdrawal, and transfer.</a:t>
            </a:r>
          </a:p>
          <a:p>
            <a:r>
              <a:rPr lang="en-US" dirty="0"/>
              <a:t>To maintain transaction history and account details.</a:t>
            </a:r>
          </a:p>
          <a:p>
            <a:r>
              <a:rPr lang="en-US" dirty="0"/>
              <a:t>To generate QR codes and downloadable PDF account statements.</a:t>
            </a:r>
          </a:p>
          <a:p>
            <a:r>
              <a:rPr lang="en-US" dirty="0"/>
              <a:t>To improve user convenience, security, and digital banking experience.</a:t>
            </a:r>
          </a:p>
        </p:txBody>
      </p:sp>
      <p:sp>
        <p:nvSpPr>
          <p:cNvPr id="5" name="Date Placeholder 4">
            <a:extLst>
              <a:ext uri="{FF2B5EF4-FFF2-40B4-BE49-F238E27FC236}">
                <a16:creationId xmlns:a16="http://schemas.microsoft.com/office/drawing/2014/main" id="{268B0D62-5A39-5424-9CF6-9A5122E0D21E}"/>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47045F34-84C7-08FE-3B8E-621019BE8AFE}"/>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796C40D6-1BC6-8947-EA26-62259BD2C227}"/>
              </a:ext>
            </a:extLst>
          </p:cNvPr>
          <p:cNvSpPr>
            <a:spLocks noGrp="1"/>
          </p:cNvSpPr>
          <p:nvPr>
            <p:ph type="sldNum" sz="quarter" idx="12"/>
          </p:nvPr>
        </p:nvSpPr>
        <p:spPr/>
        <p:txBody>
          <a:bodyPr/>
          <a:lstStyle/>
          <a:p>
            <a:fld id="{B961B71F-4B40-8942-BB88-E0F5C0B46E10}" type="slidenum">
              <a:rPr lang="en-US" smtClean="0"/>
              <a:t>7</a:t>
            </a:fld>
            <a:endParaRPr lang="en-US"/>
          </a:p>
        </p:txBody>
      </p:sp>
    </p:spTree>
    <p:extLst>
      <p:ext uri="{BB962C8B-B14F-4D97-AF65-F5344CB8AC3E}">
        <p14:creationId xmlns:p14="http://schemas.microsoft.com/office/powerpoint/2010/main" val="1263985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49560-5402-A083-5191-CC2F23364A7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3A50108-EF3B-F9BF-CB25-7C4C67A41AAC}"/>
              </a:ext>
            </a:extLst>
          </p:cNvPr>
          <p:cNvSpPr>
            <a:spLocks noGrp="1"/>
          </p:cNvSpPr>
          <p:nvPr>
            <p:ph type="title"/>
          </p:nvPr>
        </p:nvSpPr>
        <p:spPr>
          <a:xfrm>
            <a:off x="1180618" y="365125"/>
            <a:ext cx="10173182" cy="1128009"/>
          </a:xfrm>
        </p:spPr>
        <p:txBody>
          <a:bodyPr/>
          <a:lstStyle/>
          <a:p>
            <a:pPr algn="ctr"/>
            <a:r>
              <a:rPr lang="en-US" b="1" dirty="0"/>
              <a:t>Co’s Attainments - FWD</a:t>
            </a:r>
          </a:p>
        </p:txBody>
      </p:sp>
      <p:sp>
        <p:nvSpPr>
          <p:cNvPr id="5" name="Date Placeholder 4">
            <a:extLst>
              <a:ext uri="{FF2B5EF4-FFF2-40B4-BE49-F238E27FC236}">
                <a16:creationId xmlns:a16="http://schemas.microsoft.com/office/drawing/2014/main" id="{49D0E4ED-DE37-6D8E-7EB1-1F0F05E37DA3}"/>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4925EEDF-18C5-49AB-9643-7F31370592F9}"/>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803C038D-A939-9973-E752-364BB70EE05C}"/>
              </a:ext>
            </a:extLst>
          </p:cNvPr>
          <p:cNvSpPr>
            <a:spLocks noGrp="1"/>
          </p:cNvSpPr>
          <p:nvPr>
            <p:ph type="sldNum" sz="quarter" idx="12"/>
          </p:nvPr>
        </p:nvSpPr>
        <p:spPr/>
        <p:txBody>
          <a:bodyPr/>
          <a:lstStyle/>
          <a:p>
            <a:fld id="{B961B71F-4B40-8942-BB88-E0F5C0B46E10}" type="slidenum">
              <a:rPr lang="en-US" smtClean="0"/>
              <a:t>8</a:t>
            </a:fld>
            <a:endParaRPr lang="en-US"/>
          </a:p>
        </p:txBody>
      </p:sp>
      <p:graphicFrame>
        <p:nvGraphicFramePr>
          <p:cNvPr id="15" name="Content Placeholder 14"/>
          <p:cNvGraphicFramePr>
            <a:graphicFrameLocks noGrp="1"/>
          </p:cNvGraphicFramePr>
          <p:nvPr>
            <p:ph idx="1"/>
            <p:extLst>
              <p:ext uri="{D42A27DB-BD31-4B8C-83A1-F6EECF244321}">
                <p14:modId xmlns:p14="http://schemas.microsoft.com/office/powerpoint/2010/main" val="3920627067"/>
              </p:ext>
            </p:extLst>
          </p:nvPr>
        </p:nvGraphicFramePr>
        <p:xfrm>
          <a:off x="814754" y="1215406"/>
          <a:ext cx="10515600" cy="5506069"/>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95025814"/>
                    </a:ext>
                  </a:extLst>
                </a:gridCol>
                <a:gridCol w="3505200">
                  <a:extLst>
                    <a:ext uri="{9D8B030D-6E8A-4147-A177-3AD203B41FA5}">
                      <a16:colId xmlns:a16="http://schemas.microsoft.com/office/drawing/2014/main" val="155216164"/>
                    </a:ext>
                  </a:extLst>
                </a:gridCol>
                <a:gridCol w="3505200">
                  <a:extLst>
                    <a:ext uri="{9D8B030D-6E8A-4147-A177-3AD203B41FA5}">
                      <a16:colId xmlns:a16="http://schemas.microsoft.com/office/drawing/2014/main" val="1945806190"/>
                    </a:ext>
                  </a:extLst>
                </a:gridCol>
              </a:tblGrid>
              <a:tr h="585868">
                <a:tc>
                  <a:txBody>
                    <a:bodyPr/>
                    <a:lstStyle/>
                    <a:p>
                      <a:r>
                        <a:rPr lang="en-IN" sz="2800" dirty="0" err="1" smtClean="0"/>
                        <a:t>co’s</a:t>
                      </a:r>
                      <a:endParaRPr lang="en-IN" sz="2800" dirty="0"/>
                    </a:p>
                  </a:txBody>
                  <a:tcPr/>
                </a:tc>
                <a:tc>
                  <a:txBody>
                    <a:bodyPr/>
                    <a:lstStyle/>
                    <a:p>
                      <a:r>
                        <a:rPr lang="en-IN" sz="2800" dirty="0" smtClean="0"/>
                        <a:t>Co Topics</a:t>
                      </a:r>
                      <a:endParaRPr lang="en-IN" sz="2800" dirty="0"/>
                    </a:p>
                  </a:txBody>
                  <a:tcPr/>
                </a:tc>
                <a:tc>
                  <a:txBody>
                    <a:bodyPr/>
                    <a:lstStyle/>
                    <a:p>
                      <a:r>
                        <a:rPr lang="en-US" dirty="0" smtClean="0"/>
                        <a:t>Topics Covered in</a:t>
                      </a:r>
                      <a:r>
                        <a:rPr lang="en-US" baseline="0" dirty="0" smtClean="0"/>
                        <a:t> </a:t>
                      </a:r>
                      <a:r>
                        <a:rPr lang="en-US" dirty="0" smtClean="0"/>
                        <a:t>ATM Project Code</a:t>
                      </a:r>
                      <a:endParaRPr lang="en-IN" dirty="0"/>
                    </a:p>
                  </a:txBody>
                  <a:tcPr/>
                </a:tc>
                <a:extLst>
                  <a:ext uri="{0D108BD9-81ED-4DB2-BD59-A6C34878D82A}">
                    <a16:rowId xmlns:a16="http://schemas.microsoft.com/office/drawing/2014/main" val="4155089985"/>
                  </a:ext>
                </a:extLst>
              </a:tr>
              <a:tr h="836955">
                <a:tc>
                  <a:txBody>
                    <a:bodyPr/>
                    <a:lstStyle/>
                    <a:p>
                      <a:r>
                        <a:rPr lang="en-IN" dirty="0" smtClean="0"/>
                        <a:t>Co - 1</a:t>
                      </a:r>
                      <a:endParaRPr lang="en-IN" dirty="0"/>
                    </a:p>
                  </a:txBody>
                  <a:tcPr/>
                </a:tc>
                <a:tc>
                  <a:txBody>
                    <a:bodyPr/>
                    <a:lstStyle/>
                    <a:p>
                      <a:r>
                        <a:rPr lang="en-IN" dirty="0" smtClean="0"/>
                        <a:t>Internet Fundamentals, HTML &amp; Introductory CSS</a:t>
                      </a:r>
                      <a:endParaRPr lang="en-IN" dirty="0"/>
                    </a:p>
                  </a:txBody>
                  <a:tcPr/>
                </a:tc>
                <a:tc>
                  <a:txBody>
                    <a:bodyPr/>
                    <a:lstStyle/>
                    <a:p>
                      <a:r>
                        <a:rPr lang="en-US" dirty="0" smtClean="0"/>
                        <a:t>HTML page structure, headings, forms, buttons, input fields, basic CSS styling, page layout.</a:t>
                      </a:r>
                      <a:endParaRPr lang="en-IN" dirty="0"/>
                    </a:p>
                  </a:txBody>
                  <a:tcPr/>
                </a:tc>
                <a:extLst>
                  <a:ext uri="{0D108BD9-81ED-4DB2-BD59-A6C34878D82A}">
                    <a16:rowId xmlns:a16="http://schemas.microsoft.com/office/drawing/2014/main" val="179819893"/>
                  </a:ext>
                </a:extLst>
              </a:tr>
              <a:tr h="1088041">
                <a:tc>
                  <a:txBody>
                    <a:bodyPr/>
                    <a:lstStyle/>
                    <a:p>
                      <a:r>
                        <a:rPr lang="en-IN" dirty="0" smtClean="0"/>
                        <a:t>Co - 2</a:t>
                      </a:r>
                      <a:endParaRPr lang="en-IN" dirty="0"/>
                    </a:p>
                  </a:txBody>
                  <a:tcPr/>
                </a:tc>
                <a:tc>
                  <a:txBody>
                    <a:bodyPr/>
                    <a:lstStyle/>
                    <a:p>
                      <a:r>
                        <a:rPr lang="en-IN" dirty="0" smtClean="0"/>
                        <a:t>HTML Forms &amp; CSS Layout</a:t>
                      </a:r>
                      <a:endParaRPr lang="en-IN" dirty="0"/>
                    </a:p>
                  </a:txBody>
                  <a:tcPr/>
                </a:tc>
                <a:tc>
                  <a:txBody>
                    <a:bodyPr/>
                    <a:lstStyle/>
                    <a:p>
                      <a:r>
                        <a:rPr lang="en-US" dirty="0" smtClean="0"/>
                        <a:t>Form inputs (mobile number, OTP, PIN), validation attributes, responsive UI design, styled buttons and pages.</a:t>
                      </a:r>
                      <a:endParaRPr lang="en-IN" dirty="0"/>
                    </a:p>
                  </a:txBody>
                  <a:tcPr/>
                </a:tc>
                <a:extLst>
                  <a:ext uri="{0D108BD9-81ED-4DB2-BD59-A6C34878D82A}">
                    <a16:rowId xmlns:a16="http://schemas.microsoft.com/office/drawing/2014/main" val="1480187996"/>
                  </a:ext>
                </a:extLst>
              </a:tr>
              <a:tr h="1088041">
                <a:tc>
                  <a:txBody>
                    <a:bodyPr/>
                    <a:lstStyle/>
                    <a:p>
                      <a:r>
                        <a:rPr lang="en-IN" dirty="0" smtClean="0"/>
                        <a:t>Co - 3</a:t>
                      </a:r>
                      <a:endParaRPr lang="en-IN" dirty="0"/>
                    </a:p>
                  </a:txBody>
                  <a:tcPr/>
                </a:tc>
                <a:tc>
                  <a:txBody>
                    <a:bodyPr/>
                    <a:lstStyle/>
                    <a:p>
                      <a:r>
                        <a:rPr lang="en-IN" dirty="0"/>
                        <a:t>JavaScript Programming Essentials</a:t>
                      </a:r>
                    </a:p>
                  </a:txBody>
                  <a:tcPr anchor="ctr"/>
                </a:tc>
                <a:tc>
                  <a:txBody>
                    <a:bodyPr/>
                    <a:lstStyle/>
                    <a:p>
                      <a:r>
                        <a:rPr lang="en-US" sz="1600" dirty="0" smtClean="0"/>
                        <a:t>Variables, conditions (if/else), functions, objects, arrays, mathematical operations for balance and transactions</a:t>
                      </a:r>
                      <a:r>
                        <a:rPr lang="en-US" dirty="0" smtClean="0"/>
                        <a:t>.</a:t>
                      </a:r>
                      <a:endParaRPr lang="en-IN" dirty="0"/>
                    </a:p>
                  </a:txBody>
                  <a:tcPr/>
                </a:tc>
                <a:extLst>
                  <a:ext uri="{0D108BD9-81ED-4DB2-BD59-A6C34878D82A}">
                    <a16:rowId xmlns:a16="http://schemas.microsoft.com/office/drawing/2014/main" val="64337516"/>
                  </a:ext>
                </a:extLst>
              </a:tr>
              <a:tr h="873109">
                <a:tc>
                  <a:txBody>
                    <a:bodyPr/>
                    <a:lstStyle/>
                    <a:p>
                      <a:r>
                        <a:rPr lang="en-IN" dirty="0" smtClean="0"/>
                        <a:t>Co - 4</a:t>
                      </a:r>
                      <a:endParaRPr lang="en-IN" dirty="0"/>
                    </a:p>
                  </a:txBody>
                  <a:tcPr/>
                </a:tc>
                <a:tc>
                  <a:txBody>
                    <a:bodyPr/>
                    <a:lstStyle/>
                    <a:p>
                      <a:r>
                        <a:rPr lang="en-IN" dirty="0" smtClean="0"/>
                        <a:t>JavaScript Interactivity, DOM &amp; Events</a:t>
                      </a:r>
                      <a:endParaRPr lang="en-IN" dirty="0"/>
                    </a:p>
                  </a:txBody>
                  <a:tcPr/>
                </a:tc>
                <a:tc>
                  <a:txBody>
                    <a:bodyPr/>
                    <a:lstStyle/>
                    <a:p>
                      <a:r>
                        <a:rPr lang="en-IN" sz="1600" dirty="0" smtClean="0"/>
                        <a:t>DOM manipulation (</a:t>
                      </a:r>
                      <a:r>
                        <a:rPr lang="en-IN" sz="1600" i="0" u="none" dirty="0" err="1" smtClean="0"/>
                        <a:t>getElementById</a:t>
                      </a:r>
                      <a:r>
                        <a:rPr lang="en-IN" sz="1600" dirty="0" smtClean="0"/>
                        <a:t>), event handling (</a:t>
                      </a:r>
                      <a:r>
                        <a:rPr lang="en-IN" sz="1600" dirty="0" err="1" smtClean="0"/>
                        <a:t>onclick</a:t>
                      </a:r>
                      <a:r>
                        <a:rPr lang="en-IN" sz="1600" dirty="0" smtClean="0"/>
                        <a:t>), dynamic page navigation, transaction history display.</a:t>
                      </a:r>
                      <a:endParaRPr lang="en-IN" sz="1600" dirty="0"/>
                    </a:p>
                  </a:txBody>
                  <a:tcPr/>
                </a:tc>
                <a:extLst>
                  <a:ext uri="{0D108BD9-81ED-4DB2-BD59-A6C34878D82A}">
                    <a16:rowId xmlns:a16="http://schemas.microsoft.com/office/drawing/2014/main" val="3818399924"/>
                  </a:ext>
                </a:extLst>
              </a:tr>
              <a:tr h="559028">
                <a:tc>
                  <a:txBody>
                    <a:bodyPr/>
                    <a:lstStyle/>
                    <a:p>
                      <a:r>
                        <a:rPr lang="en-IN" dirty="0" smtClean="0"/>
                        <a:t>Co -</a:t>
                      </a:r>
                      <a:r>
                        <a:rPr lang="en-IN" baseline="0" dirty="0" smtClean="0"/>
                        <a:t> 5</a:t>
                      </a:r>
                      <a:endParaRPr lang="en-IN" dirty="0"/>
                    </a:p>
                  </a:txBody>
                  <a:tcPr/>
                </a:tc>
                <a:tc>
                  <a:txBody>
                    <a:bodyPr/>
                    <a:lstStyle/>
                    <a:p>
                      <a:r>
                        <a:rPr lang="en-IN" dirty="0" smtClean="0"/>
                        <a:t>Advanced Web Development</a:t>
                      </a:r>
                      <a:endParaRPr lang="en-IN" dirty="0"/>
                    </a:p>
                  </a:txBody>
                  <a:tcPr/>
                </a:tc>
                <a:tc>
                  <a:txBody>
                    <a:bodyPr/>
                    <a:lstStyle/>
                    <a:p>
                      <a:r>
                        <a:rPr lang="en-IN" sz="1400" dirty="0" smtClean="0"/>
                        <a:t>DOM manipulation (</a:t>
                      </a:r>
                      <a:r>
                        <a:rPr lang="en-IN" sz="1400" dirty="0" err="1" smtClean="0"/>
                        <a:t>getElementById</a:t>
                      </a:r>
                      <a:r>
                        <a:rPr lang="en-IN" sz="1400" dirty="0" smtClean="0"/>
                        <a:t>), event handling (</a:t>
                      </a:r>
                      <a:r>
                        <a:rPr lang="en-IN" sz="1400" dirty="0" err="1" smtClean="0"/>
                        <a:t>onclick</a:t>
                      </a:r>
                      <a:r>
                        <a:rPr lang="en-IN" sz="1400" dirty="0" smtClean="0"/>
                        <a:t>), dynamic page navigation, transaction history display</a:t>
                      </a:r>
                      <a:r>
                        <a:rPr lang="en-IN" dirty="0" smtClean="0"/>
                        <a:t>.</a:t>
                      </a:r>
                      <a:endParaRPr lang="en-IN" dirty="0"/>
                    </a:p>
                  </a:txBody>
                  <a:tcPr/>
                </a:tc>
                <a:extLst>
                  <a:ext uri="{0D108BD9-81ED-4DB2-BD59-A6C34878D82A}">
                    <a16:rowId xmlns:a16="http://schemas.microsoft.com/office/drawing/2014/main" val="1962247361"/>
                  </a:ext>
                </a:extLst>
              </a:tr>
            </a:tbl>
          </a:graphicData>
        </a:graphic>
      </p:graphicFrame>
    </p:spTree>
    <p:extLst>
      <p:ext uri="{BB962C8B-B14F-4D97-AF65-F5344CB8AC3E}">
        <p14:creationId xmlns:p14="http://schemas.microsoft.com/office/powerpoint/2010/main" val="19069465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A9CAF-7EB0-0890-1F26-CA3F8236AA1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7E0E9F0-7414-F19D-A367-C4D70D67BCB3}"/>
              </a:ext>
            </a:extLst>
          </p:cNvPr>
          <p:cNvSpPr>
            <a:spLocks noGrp="1"/>
          </p:cNvSpPr>
          <p:nvPr>
            <p:ph type="title"/>
          </p:nvPr>
        </p:nvSpPr>
        <p:spPr>
          <a:xfrm>
            <a:off x="1180618" y="365125"/>
            <a:ext cx="10173182" cy="1128009"/>
          </a:xfrm>
        </p:spPr>
        <p:txBody>
          <a:bodyPr/>
          <a:lstStyle/>
          <a:p>
            <a:pPr algn="ctr"/>
            <a:r>
              <a:rPr lang="en-US" b="1" dirty="0"/>
              <a:t>Co’s Attainments - DSA</a:t>
            </a:r>
          </a:p>
        </p:txBody>
      </p:sp>
      <p:graphicFrame>
        <p:nvGraphicFramePr>
          <p:cNvPr id="2" name="Content Placeholder 1"/>
          <p:cNvGraphicFramePr>
            <a:graphicFrameLocks noGrp="1"/>
          </p:cNvGraphicFramePr>
          <p:nvPr>
            <p:ph idx="1"/>
            <p:extLst>
              <p:ext uri="{D42A27DB-BD31-4B8C-83A1-F6EECF244321}">
                <p14:modId xmlns:p14="http://schemas.microsoft.com/office/powerpoint/2010/main" val="1945565597"/>
              </p:ext>
            </p:extLst>
          </p:nvPr>
        </p:nvGraphicFramePr>
        <p:xfrm>
          <a:off x="838200" y="1825625"/>
          <a:ext cx="10515600" cy="4349631"/>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2362424358"/>
                    </a:ext>
                  </a:extLst>
                </a:gridCol>
                <a:gridCol w="3505200">
                  <a:extLst>
                    <a:ext uri="{9D8B030D-6E8A-4147-A177-3AD203B41FA5}">
                      <a16:colId xmlns:a16="http://schemas.microsoft.com/office/drawing/2014/main" val="1098259062"/>
                    </a:ext>
                  </a:extLst>
                </a:gridCol>
                <a:gridCol w="3505200">
                  <a:extLst>
                    <a:ext uri="{9D8B030D-6E8A-4147-A177-3AD203B41FA5}">
                      <a16:colId xmlns:a16="http://schemas.microsoft.com/office/drawing/2014/main" val="570525463"/>
                    </a:ext>
                  </a:extLst>
                </a:gridCol>
              </a:tblGrid>
              <a:tr h="509151">
                <a:tc>
                  <a:txBody>
                    <a:bodyPr/>
                    <a:lstStyle/>
                    <a:p>
                      <a:r>
                        <a:rPr lang="en-IN" sz="2400" dirty="0" err="1" smtClean="0"/>
                        <a:t>Co’s</a:t>
                      </a:r>
                      <a:endParaRPr lang="en-IN" sz="2400" dirty="0"/>
                    </a:p>
                  </a:txBody>
                  <a:tcPr/>
                </a:tc>
                <a:tc>
                  <a:txBody>
                    <a:bodyPr/>
                    <a:lstStyle/>
                    <a:p>
                      <a:r>
                        <a:rPr lang="en-IN" sz="2400" dirty="0" smtClean="0"/>
                        <a:t>Co Topics</a:t>
                      </a:r>
                      <a:endParaRPr lang="en-IN" sz="2400" dirty="0"/>
                    </a:p>
                  </a:txBody>
                  <a:tcPr/>
                </a:tc>
                <a:tc>
                  <a:txBody>
                    <a:bodyPr/>
                    <a:lstStyle/>
                    <a:p>
                      <a:r>
                        <a:rPr lang="en-IN" sz="2400" dirty="0" smtClean="0"/>
                        <a:t>Topics Covered in Code</a:t>
                      </a:r>
                      <a:endParaRPr lang="en-IN" sz="2400" dirty="0"/>
                    </a:p>
                  </a:txBody>
                  <a:tcPr/>
                </a:tc>
                <a:extLst>
                  <a:ext uri="{0D108BD9-81ED-4DB2-BD59-A6C34878D82A}">
                    <a16:rowId xmlns:a16="http://schemas.microsoft.com/office/drawing/2014/main" val="562075210"/>
                  </a:ext>
                </a:extLst>
              </a:tr>
              <a:tr h="509151">
                <a:tc>
                  <a:txBody>
                    <a:bodyPr/>
                    <a:lstStyle/>
                    <a:p>
                      <a:r>
                        <a:rPr lang="en-IN" dirty="0" smtClean="0"/>
                        <a:t>Co - 1</a:t>
                      </a:r>
                      <a:endParaRPr lang="en-IN" dirty="0"/>
                    </a:p>
                  </a:txBody>
                  <a:tcPr/>
                </a:tc>
                <a:tc>
                  <a:txBody>
                    <a:bodyPr/>
                    <a:lstStyle/>
                    <a:p>
                      <a:r>
                        <a:rPr lang="en-US" dirty="0" smtClean="0"/>
                        <a:t>Analyze searching and sorting algorithms</a:t>
                      </a:r>
                      <a:endParaRPr lang="en-IN" dirty="0"/>
                    </a:p>
                  </a:txBody>
                  <a:tcPr/>
                </a:tc>
                <a:tc>
                  <a:txBody>
                    <a:bodyPr/>
                    <a:lstStyle/>
                    <a:p>
                      <a:r>
                        <a:rPr lang="en-US" dirty="0" smtClean="0"/>
                        <a:t>Time Complexity, Linear Search, Binary Search, Sorting Algorithms</a:t>
                      </a:r>
                      <a:endParaRPr lang="en-IN" dirty="0"/>
                    </a:p>
                  </a:txBody>
                  <a:tcPr/>
                </a:tc>
                <a:extLst>
                  <a:ext uri="{0D108BD9-81ED-4DB2-BD59-A6C34878D82A}">
                    <a16:rowId xmlns:a16="http://schemas.microsoft.com/office/drawing/2014/main" val="4089942302"/>
                  </a:ext>
                </a:extLst>
              </a:tr>
              <a:tr h="509151">
                <a:tc>
                  <a:txBody>
                    <a:bodyPr/>
                    <a:lstStyle/>
                    <a:p>
                      <a:r>
                        <a:rPr lang="en-IN" dirty="0" smtClean="0"/>
                        <a:t>Co</a:t>
                      </a:r>
                      <a:r>
                        <a:rPr lang="en-IN" baseline="0" dirty="0" smtClean="0"/>
                        <a:t> - 2</a:t>
                      </a:r>
                      <a:endParaRPr lang="en-IN" dirty="0"/>
                    </a:p>
                  </a:txBody>
                  <a:tcPr/>
                </a:tc>
                <a:tc>
                  <a:txBody>
                    <a:bodyPr/>
                    <a:lstStyle/>
                    <a:p>
                      <a:r>
                        <a:rPr lang="en-IN" dirty="0" smtClean="0"/>
                        <a:t>Implement linked list data structures</a:t>
                      </a:r>
                      <a:endParaRPr lang="en-IN" dirty="0"/>
                    </a:p>
                  </a:txBody>
                  <a:tcPr/>
                </a:tc>
                <a:tc>
                  <a:txBody>
                    <a:bodyPr/>
                    <a:lstStyle/>
                    <a:p>
                      <a:r>
                        <a:rPr lang="en-US" dirty="0" smtClean="0"/>
                        <a:t>Singly Linked List, Doubly Linked List, Circular Linked List</a:t>
                      </a:r>
                      <a:endParaRPr lang="en-IN" dirty="0"/>
                    </a:p>
                  </a:txBody>
                  <a:tcPr/>
                </a:tc>
                <a:extLst>
                  <a:ext uri="{0D108BD9-81ED-4DB2-BD59-A6C34878D82A}">
                    <a16:rowId xmlns:a16="http://schemas.microsoft.com/office/drawing/2014/main" val="1929928942"/>
                  </a:ext>
                </a:extLst>
              </a:tr>
              <a:tr h="509151">
                <a:tc>
                  <a:txBody>
                    <a:bodyPr/>
                    <a:lstStyle/>
                    <a:p>
                      <a:r>
                        <a:rPr lang="en-IN" dirty="0" smtClean="0"/>
                        <a:t>Co -</a:t>
                      </a:r>
                      <a:r>
                        <a:rPr lang="en-IN" baseline="0" dirty="0" smtClean="0"/>
                        <a:t> 3</a:t>
                      </a:r>
                      <a:endParaRPr lang="en-IN" dirty="0"/>
                    </a:p>
                  </a:txBody>
                  <a:tcPr/>
                </a:tc>
                <a:tc>
                  <a:txBody>
                    <a:bodyPr/>
                    <a:lstStyle/>
                    <a:p>
                      <a:r>
                        <a:rPr lang="en-US" dirty="0" smtClean="0"/>
                        <a:t>Apply stack and queue structures</a:t>
                      </a:r>
                      <a:endParaRPr lang="en-IN" dirty="0"/>
                    </a:p>
                  </a:txBody>
                  <a:tcPr/>
                </a:tc>
                <a:tc>
                  <a:txBody>
                    <a:bodyPr/>
                    <a:lstStyle/>
                    <a:p>
                      <a:r>
                        <a:rPr lang="fr-FR" dirty="0" err="1" smtClean="0"/>
                        <a:t>Stack</a:t>
                      </a:r>
                      <a:r>
                        <a:rPr lang="fr-FR" dirty="0" smtClean="0"/>
                        <a:t>, Queue, </a:t>
                      </a:r>
                      <a:r>
                        <a:rPr lang="fr-FR" dirty="0" err="1" smtClean="0"/>
                        <a:t>Circular</a:t>
                      </a:r>
                      <a:r>
                        <a:rPr lang="fr-FR" dirty="0" smtClean="0"/>
                        <a:t> Queue, Expression Evaluation</a:t>
                      </a:r>
                      <a:endParaRPr lang="en-IN" dirty="0"/>
                    </a:p>
                  </a:txBody>
                  <a:tcPr/>
                </a:tc>
                <a:extLst>
                  <a:ext uri="{0D108BD9-81ED-4DB2-BD59-A6C34878D82A}">
                    <a16:rowId xmlns:a16="http://schemas.microsoft.com/office/drawing/2014/main" val="2572524511"/>
                  </a:ext>
                </a:extLst>
              </a:tr>
              <a:tr h="509151">
                <a:tc>
                  <a:txBody>
                    <a:bodyPr/>
                    <a:lstStyle/>
                    <a:p>
                      <a:r>
                        <a:rPr lang="en-IN" dirty="0" smtClean="0"/>
                        <a:t>Co  - 4</a:t>
                      </a:r>
                      <a:endParaRPr lang="en-IN" dirty="0"/>
                    </a:p>
                  </a:txBody>
                  <a:tcPr/>
                </a:tc>
                <a:tc>
                  <a:txBody>
                    <a:bodyPr/>
                    <a:lstStyle/>
                    <a:p>
                      <a:r>
                        <a:rPr lang="en-IN" dirty="0" smtClean="0"/>
                        <a:t>Design hash-based data structures</a:t>
                      </a:r>
                      <a:endParaRPr lang="en-IN" dirty="0"/>
                    </a:p>
                  </a:txBody>
                  <a:tcPr/>
                </a:tc>
                <a:tc>
                  <a:txBody>
                    <a:bodyPr/>
                    <a:lstStyle/>
                    <a:p>
                      <a:r>
                        <a:rPr lang="en-IN" dirty="0" smtClean="0"/>
                        <a:t>Hashing, Collision Handling Techniques</a:t>
                      </a:r>
                      <a:endParaRPr lang="en-IN" dirty="0"/>
                    </a:p>
                  </a:txBody>
                  <a:tcPr/>
                </a:tc>
                <a:extLst>
                  <a:ext uri="{0D108BD9-81ED-4DB2-BD59-A6C34878D82A}">
                    <a16:rowId xmlns:a16="http://schemas.microsoft.com/office/drawing/2014/main" val="2721800271"/>
                  </a:ext>
                </a:extLst>
              </a:tr>
              <a:tr h="509151">
                <a:tc>
                  <a:txBody>
                    <a:bodyPr/>
                    <a:lstStyle/>
                    <a:p>
                      <a:r>
                        <a:rPr lang="en-IN" dirty="0" smtClean="0"/>
                        <a:t>Co  - 5</a:t>
                      </a:r>
                      <a:endParaRPr lang="en-IN" dirty="0"/>
                    </a:p>
                  </a:txBody>
                  <a:tcPr/>
                </a:tc>
                <a:tc>
                  <a:txBody>
                    <a:bodyPr/>
                    <a:lstStyle/>
                    <a:p>
                      <a:r>
                        <a:rPr lang="en-US" dirty="0" smtClean="0"/>
                        <a:t>Use linear data structures in applications</a:t>
                      </a:r>
                      <a:endParaRPr lang="en-IN" dirty="0"/>
                    </a:p>
                  </a:txBody>
                  <a:tcPr/>
                </a:tc>
                <a:tc>
                  <a:txBody>
                    <a:bodyPr/>
                    <a:lstStyle/>
                    <a:p>
                      <a:r>
                        <a:rPr lang="en-US" dirty="0" smtClean="0"/>
                        <a:t>Applications of Linear Data Structures</a:t>
                      </a:r>
                      <a:endParaRPr lang="en-IN" dirty="0"/>
                    </a:p>
                  </a:txBody>
                  <a:tcPr/>
                </a:tc>
                <a:extLst>
                  <a:ext uri="{0D108BD9-81ED-4DB2-BD59-A6C34878D82A}">
                    <a16:rowId xmlns:a16="http://schemas.microsoft.com/office/drawing/2014/main" val="1769733598"/>
                  </a:ext>
                </a:extLst>
              </a:tr>
              <a:tr h="509151">
                <a:tc>
                  <a:txBody>
                    <a:bodyPr/>
                    <a:lstStyle/>
                    <a:p>
                      <a:r>
                        <a:rPr lang="en-IN" dirty="0" smtClean="0"/>
                        <a:t>Co  - 6</a:t>
                      </a:r>
                      <a:endParaRPr lang="en-IN" dirty="0"/>
                    </a:p>
                  </a:txBody>
                  <a:tcPr/>
                </a:tc>
                <a:tc>
                  <a:txBody>
                    <a:bodyPr/>
                    <a:lstStyle/>
                    <a:p>
                      <a:r>
                        <a:rPr lang="en-US" dirty="0" smtClean="0"/>
                        <a:t>Develop programs using data structures</a:t>
                      </a:r>
                      <a:endParaRPr lang="en-IN" dirty="0"/>
                    </a:p>
                  </a:txBody>
                  <a:tcPr/>
                </a:tc>
                <a:tc>
                  <a:txBody>
                    <a:bodyPr/>
                    <a:lstStyle/>
                    <a:p>
                      <a:r>
                        <a:rPr lang="en-US" dirty="0" smtClean="0"/>
                        <a:t>Implementation of Data Structure Programs</a:t>
                      </a:r>
                      <a:endParaRPr lang="en-IN" dirty="0"/>
                    </a:p>
                  </a:txBody>
                  <a:tcPr/>
                </a:tc>
                <a:extLst>
                  <a:ext uri="{0D108BD9-81ED-4DB2-BD59-A6C34878D82A}">
                    <a16:rowId xmlns:a16="http://schemas.microsoft.com/office/drawing/2014/main" val="430049004"/>
                  </a:ext>
                </a:extLst>
              </a:tr>
            </a:tbl>
          </a:graphicData>
        </a:graphic>
      </p:graphicFrame>
      <p:sp>
        <p:nvSpPr>
          <p:cNvPr id="5" name="Date Placeholder 4">
            <a:extLst>
              <a:ext uri="{FF2B5EF4-FFF2-40B4-BE49-F238E27FC236}">
                <a16:creationId xmlns:a16="http://schemas.microsoft.com/office/drawing/2014/main" id="{12D1C05D-4DC9-ADC0-13CA-909E89023113}"/>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F4CC7196-73FE-144C-6DB9-248E7AB56907}"/>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194048-D768-5663-4851-89B00F981F60}"/>
              </a:ext>
            </a:extLst>
          </p:cNvPr>
          <p:cNvSpPr>
            <a:spLocks noGrp="1"/>
          </p:cNvSpPr>
          <p:nvPr>
            <p:ph type="sldNum" sz="quarter" idx="12"/>
          </p:nvPr>
        </p:nvSpPr>
        <p:spPr/>
        <p:txBody>
          <a:bodyPr/>
          <a:lstStyle/>
          <a:p>
            <a:fld id="{B961B71F-4B40-8942-BB88-E0F5C0B46E10}" type="slidenum">
              <a:rPr lang="en-US" smtClean="0"/>
              <a:t>9</a:t>
            </a:fld>
            <a:endParaRPr lang="en-US"/>
          </a:p>
        </p:txBody>
      </p:sp>
    </p:spTree>
    <p:extLst>
      <p:ext uri="{BB962C8B-B14F-4D97-AF65-F5344CB8AC3E}">
        <p14:creationId xmlns:p14="http://schemas.microsoft.com/office/powerpoint/2010/main" val="3443658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23D68-D41B-9825-3931-B79590C795F8}"/>
              </a:ext>
            </a:extLst>
          </p:cNvPr>
          <p:cNvSpPr>
            <a:spLocks noGrp="1"/>
          </p:cNvSpPr>
          <p:nvPr>
            <p:ph type="title"/>
          </p:nvPr>
        </p:nvSpPr>
        <p:spPr/>
        <p:txBody>
          <a:bodyPr/>
          <a:lstStyle/>
          <a:p>
            <a:r>
              <a:rPr lang="en-US" dirty="0"/>
              <a:t>Screenshots for FWD &amp; DSA</a:t>
            </a:r>
          </a:p>
        </p:txBody>
      </p:sp>
      <p:pic>
        <p:nvPicPr>
          <p:cNvPr id="7" name="Content Placeholder 6"/>
          <p:cNvPicPr>
            <a:picLocks noGrp="1" noChangeAspect="1"/>
          </p:cNvPicPr>
          <p:nvPr>
            <p:ph idx="1"/>
          </p:nvPr>
        </p:nvPicPr>
        <p:blipFill>
          <a:blip r:embed="rId2"/>
          <a:stretch>
            <a:fillRect/>
          </a:stretch>
        </p:blipFill>
        <p:spPr>
          <a:xfrm>
            <a:off x="838200" y="1863970"/>
            <a:ext cx="3892062" cy="1547446"/>
          </a:xfrm>
          <a:prstGeom prst="rect">
            <a:avLst/>
          </a:prstGeom>
        </p:spPr>
      </p:pic>
      <p:sp>
        <p:nvSpPr>
          <p:cNvPr id="4" name="Date Placeholder 3">
            <a:extLst>
              <a:ext uri="{FF2B5EF4-FFF2-40B4-BE49-F238E27FC236}">
                <a16:creationId xmlns:a16="http://schemas.microsoft.com/office/drawing/2014/main" id="{F1963D1B-E2DB-29C3-BA63-FF21B16E3D52}"/>
              </a:ext>
            </a:extLst>
          </p:cNvPr>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a:extLst>
              <a:ext uri="{FF2B5EF4-FFF2-40B4-BE49-F238E27FC236}">
                <a16:creationId xmlns:a16="http://schemas.microsoft.com/office/drawing/2014/main" id="{49114CB5-AB44-10F9-E8AF-4658C65956F4}"/>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198D5113-7B1F-AF02-CDA9-5B3AB95BE716}"/>
              </a:ext>
            </a:extLst>
          </p:cNvPr>
          <p:cNvSpPr>
            <a:spLocks noGrp="1"/>
          </p:cNvSpPr>
          <p:nvPr>
            <p:ph type="sldNum" sz="quarter" idx="12"/>
          </p:nvPr>
        </p:nvSpPr>
        <p:spPr/>
        <p:txBody>
          <a:bodyPr/>
          <a:lstStyle/>
          <a:p>
            <a:fld id="{B961B71F-4B40-8942-BB88-E0F5C0B46E10}" type="slidenum">
              <a:rPr lang="en-US" smtClean="0"/>
              <a:t>10</a:t>
            </a:fld>
            <a:endParaRPr lang="en-US"/>
          </a:p>
        </p:txBody>
      </p:sp>
      <p:pic>
        <p:nvPicPr>
          <p:cNvPr id="8" name="Picture 7"/>
          <p:cNvPicPr>
            <a:picLocks noChangeAspect="1"/>
          </p:cNvPicPr>
          <p:nvPr/>
        </p:nvPicPr>
        <p:blipFill>
          <a:blip r:embed="rId3"/>
          <a:stretch>
            <a:fillRect/>
          </a:stretch>
        </p:blipFill>
        <p:spPr>
          <a:xfrm>
            <a:off x="838200" y="3518464"/>
            <a:ext cx="3892062" cy="1704167"/>
          </a:xfrm>
          <a:prstGeom prst="rect">
            <a:avLst/>
          </a:prstGeom>
        </p:spPr>
      </p:pic>
      <p:pic>
        <p:nvPicPr>
          <p:cNvPr id="9" name="Picture 8"/>
          <p:cNvPicPr>
            <a:picLocks noChangeAspect="1"/>
          </p:cNvPicPr>
          <p:nvPr/>
        </p:nvPicPr>
        <p:blipFill>
          <a:blip r:embed="rId4"/>
          <a:stretch>
            <a:fillRect/>
          </a:stretch>
        </p:blipFill>
        <p:spPr>
          <a:xfrm>
            <a:off x="5046784" y="1863971"/>
            <a:ext cx="4070839" cy="1547446"/>
          </a:xfrm>
          <a:prstGeom prst="rect">
            <a:avLst/>
          </a:prstGeom>
        </p:spPr>
      </p:pic>
      <p:pic>
        <p:nvPicPr>
          <p:cNvPr id="10" name="Picture 9"/>
          <p:cNvPicPr>
            <a:picLocks noChangeAspect="1"/>
          </p:cNvPicPr>
          <p:nvPr/>
        </p:nvPicPr>
        <p:blipFill>
          <a:blip r:embed="rId5"/>
          <a:stretch>
            <a:fillRect/>
          </a:stretch>
        </p:blipFill>
        <p:spPr>
          <a:xfrm>
            <a:off x="5046785" y="3518463"/>
            <a:ext cx="3982916" cy="2064651"/>
          </a:xfrm>
          <a:prstGeom prst="rect">
            <a:avLst/>
          </a:prstGeom>
        </p:spPr>
      </p:pic>
    </p:spTree>
    <p:extLst>
      <p:ext uri="{BB962C8B-B14F-4D97-AF65-F5344CB8AC3E}">
        <p14:creationId xmlns:p14="http://schemas.microsoft.com/office/powerpoint/2010/main" val="34319537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FB085D-B69B-9C45-93A5-77F47F2F6792}" type="datetime1">
              <a:rPr lang="en-IN" smtClean="0"/>
              <a:t>09-03-2026</a:t>
            </a:fld>
            <a:endParaRPr lang="en-US"/>
          </a:p>
        </p:txBody>
      </p:sp>
      <p:sp>
        <p:nvSpPr>
          <p:cNvPr id="3" name="Footer Placeholder 2"/>
          <p:cNvSpPr>
            <a:spLocks noGrp="1"/>
          </p:cNvSpPr>
          <p:nvPr>
            <p:ph type="ftr" sz="quarter" idx="11"/>
          </p:nvPr>
        </p:nvSpPr>
        <p:spPr/>
        <p:txBody>
          <a:bodyPr/>
          <a:lstStyle/>
          <a:p>
            <a:r>
              <a:rPr lang="en-US" smtClean="0"/>
              <a:t>0th REVIEW         173030211           Department of CSE</a:t>
            </a:r>
            <a:endParaRPr lang="en-US"/>
          </a:p>
        </p:txBody>
      </p:sp>
      <p:sp>
        <p:nvSpPr>
          <p:cNvPr id="4" name="Slide Number Placeholder 3"/>
          <p:cNvSpPr>
            <a:spLocks noGrp="1"/>
          </p:cNvSpPr>
          <p:nvPr>
            <p:ph type="sldNum" sz="quarter" idx="12"/>
          </p:nvPr>
        </p:nvSpPr>
        <p:spPr/>
        <p:txBody>
          <a:bodyPr/>
          <a:lstStyle/>
          <a:p>
            <a:fld id="{B961B71F-4B40-8942-BB88-E0F5C0B46E10}" type="slidenum">
              <a:rPr lang="en-US" smtClean="0"/>
              <a:t>11</a:t>
            </a:fld>
            <a:endParaRPr lang="en-US"/>
          </a:p>
        </p:txBody>
      </p:sp>
      <p:pic>
        <p:nvPicPr>
          <p:cNvPr id="5" name="Picture 4"/>
          <p:cNvPicPr>
            <a:picLocks noChangeAspect="1"/>
          </p:cNvPicPr>
          <p:nvPr/>
        </p:nvPicPr>
        <p:blipFill>
          <a:blip r:embed="rId2"/>
          <a:stretch>
            <a:fillRect/>
          </a:stretch>
        </p:blipFill>
        <p:spPr>
          <a:xfrm>
            <a:off x="159071" y="167972"/>
            <a:ext cx="4140368" cy="1502566"/>
          </a:xfrm>
          <a:prstGeom prst="rect">
            <a:avLst/>
          </a:prstGeom>
        </p:spPr>
      </p:pic>
      <p:pic>
        <p:nvPicPr>
          <p:cNvPr id="6" name="Picture 5"/>
          <p:cNvPicPr>
            <a:picLocks noChangeAspect="1"/>
          </p:cNvPicPr>
          <p:nvPr/>
        </p:nvPicPr>
        <p:blipFill>
          <a:blip r:embed="rId3"/>
          <a:stretch>
            <a:fillRect/>
          </a:stretch>
        </p:blipFill>
        <p:spPr>
          <a:xfrm>
            <a:off x="159072" y="1929760"/>
            <a:ext cx="4140367" cy="1631126"/>
          </a:xfrm>
          <a:prstGeom prst="rect">
            <a:avLst/>
          </a:prstGeom>
        </p:spPr>
      </p:pic>
      <p:pic>
        <p:nvPicPr>
          <p:cNvPr id="7" name="Picture 6"/>
          <p:cNvPicPr>
            <a:picLocks noChangeAspect="1"/>
          </p:cNvPicPr>
          <p:nvPr/>
        </p:nvPicPr>
        <p:blipFill>
          <a:blip r:embed="rId4"/>
          <a:stretch>
            <a:fillRect/>
          </a:stretch>
        </p:blipFill>
        <p:spPr>
          <a:xfrm>
            <a:off x="159071" y="3715432"/>
            <a:ext cx="4140368" cy="1225845"/>
          </a:xfrm>
          <a:prstGeom prst="rect">
            <a:avLst/>
          </a:prstGeom>
        </p:spPr>
      </p:pic>
      <p:pic>
        <p:nvPicPr>
          <p:cNvPr id="8" name="Picture 7"/>
          <p:cNvPicPr>
            <a:picLocks noChangeAspect="1"/>
          </p:cNvPicPr>
          <p:nvPr/>
        </p:nvPicPr>
        <p:blipFill>
          <a:blip r:embed="rId5"/>
          <a:stretch>
            <a:fillRect/>
          </a:stretch>
        </p:blipFill>
        <p:spPr>
          <a:xfrm>
            <a:off x="159071" y="4975958"/>
            <a:ext cx="4140368" cy="1574311"/>
          </a:xfrm>
          <a:prstGeom prst="rect">
            <a:avLst/>
          </a:prstGeom>
        </p:spPr>
      </p:pic>
      <p:pic>
        <p:nvPicPr>
          <p:cNvPr id="9" name="Picture 8"/>
          <p:cNvPicPr>
            <a:picLocks noChangeAspect="1"/>
          </p:cNvPicPr>
          <p:nvPr/>
        </p:nvPicPr>
        <p:blipFill>
          <a:blip r:embed="rId6"/>
          <a:stretch>
            <a:fillRect/>
          </a:stretch>
        </p:blipFill>
        <p:spPr>
          <a:xfrm>
            <a:off x="5758962" y="123806"/>
            <a:ext cx="4914900" cy="1458809"/>
          </a:xfrm>
          <a:prstGeom prst="rect">
            <a:avLst/>
          </a:prstGeom>
        </p:spPr>
      </p:pic>
      <p:pic>
        <p:nvPicPr>
          <p:cNvPr id="10" name="Picture 9"/>
          <p:cNvPicPr>
            <a:picLocks noChangeAspect="1"/>
          </p:cNvPicPr>
          <p:nvPr/>
        </p:nvPicPr>
        <p:blipFill>
          <a:blip r:embed="rId7"/>
          <a:stretch>
            <a:fillRect/>
          </a:stretch>
        </p:blipFill>
        <p:spPr>
          <a:xfrm>
            <a:off x="5747482" y="1768610"/>
            <a:ext cx="4926380" cy="1562318"/>
          </a:xfrm>
          <a:prstGeom prst="rect">
            <a:avLst/>
          </a:prstGeom>
        </p:spPr>
      </p:pic>
      <p:pic>
        <p:nvPicPr>
          <p:cNvPr id="11" name="Picture 10"/>
          <p:cNvPicPr>
            <a:picLocks noChangeAspect="1"/>
          </p:cNvPicPr>
          <p:nvPr/>
        </p:nvPicPr>
        <p:blipFill>
          <a:blip r:embed="rId8"/>
          <a:stretch>
            <a:fillRect/>
          </a:stretch>
        </p:blipFill>
        <p:spPr>
          <a:xfrm>
            <a:off x="5758962" y="3429000"/>
            <a:ext cx="4914900" cy="1072662"/>
          </a:xfrm>
          <a:prstGeom prst="rect">
            <a:avLst/>
          </a:prstGeom>
        </p:spPr>
      </p:pic>
      <p:pic>
        <p:nvPicPr>
          <p:cNvPr id="12" name="Picture 11"/>
          <p:cNvPicPr>
            <a:picLocks noChangeAspect="1"/>
          </p:cNvPicPr>
          <p:nvPr/>
        </p:nvPicPr>
        <p:blipFill>
          <a:blip r:embed="rId9"/>
          <a:stretch>
            <a:fillRect/>
          </a:stretch>
        </p:blipFill>
        <p:spPr>
          <a:xfrm>
            <a:off x="5758961" y="4599734"/>
            <a:ext cx="4914901" cy="1756616"/>
          </a:xfrm>
          <a:prstGeom prst="rect">
            <a:avLst/>
          </a:prstGeom>
        </p:spPr>
      </p:pic>
    </p:spTree>
    <p:extLst>
      <p:ext uri="{BB962C8B-B14F-4D97-AF65-F5344CB8AC3E}">
        <p14:creationId xmlns:p14="http://schemas.microsoft.com/office/powerpoint/2010/main" val="20237222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FB085D-B69B-9C45-93A5-77F47F2F6792}" type="datetime1">
              <a:rPr lang="en-IN" smtClean="0"/>
              <a:t>09-03-2026</a:t>
            </a:fld>
            <a:endParaRPr lang="en-US"/>
          </a:p>
        </p:txBody>
      </p:sp>
      <p:sp>
        <p:nvSpPr>
          <p:cNvPr id="3" name="Footer Placeholder 2"/>
          <p:cNvSpPr>
            <a:spLocks noGrp="1"/>
          </p:cNvSpPr>
          <p:nvPr>
            <p:ph type="ftr" sz="quarter" idx="11"/>
          </p:nvPr>
        </p:nvSpPr>
        <p:spPr/>
        <p:txBody>
          <a:bodyPr/>
          <a:lstStyle/>
          <a:p>
            <a:r>
              <a:rPr lang="en-US" smtClean="0"/>
              <a:t>0th REVIEW         173030211           Department of CSE</a:t>
            </a:r>
            <a:endParaRPr lang="en-US"/>
          </a:p>
        </p:txBody>
      </p:sp>
      <p:sp>
        <p:nvSpPr>
          <p:cNvPr id="4" name="Slide Number Placeholder 3"/>
          <p:cNvSpPr>
            <a:spLocks noGrp="1"/>
          </p:cNvSpPr>
          <p:nvPr>
            <p:ph type="sldNum" sz="quarter" idx="12"/>
          </p:nvPr>
        </p:nvSpPr>
        <p:spPr/>
        <p:txBody>
          <a:bodyPr/>
          <a:lstStyle/>
          <a:p>
            <a:fld id="{B961B71F-4B40-8942-BB88-E0F5C0B46E10}" type="slidenum">
              <a:rPr lang="en-US" smtClean="0"/>
              <a:t>12</a:t>
            </a:fld>
            <a:endParaRPr lang="en-US"/>
          </a:p>
        </p:txBody>
      </p:sp>
      <p:pic>
        <p:nvPicPr>
          <p:cNvPr id="5" name="Picture 4"/>
          <p:cNvPicPr>
            <a:picLocks noChangeAspect="1"/>
          </p:cNvPicPr>
          <p:nvPr/>
        </p:nvPicPr>
        <p:blipFill>
          <a:blip r:embed="rId2"/>
          <a:stretch>
            <a:fillRect/>
          </a:stretch>
        </p:blipFill>
        <p:spPr>
          <a:xfrm>
            <a:off x="125417" y="125757"/>
            <a:ext cx="3549768" cy="2063528"/>
          </a:xfrm>
          <a:prstGeom prst="rect">
            <a:avLst/>
          </a:prstGeom>
        </p:spPr>
      </p:pic>
      <p:pic>
        <p:nvPicPr>
          <p:cNvPr id="6" name="Picture 5"/>
          <p:cNvPicPr>
            <a:picLocks noChangeAspect="1"/>
          </p:cNvPicPr>
          <p:nvPr/>
        </p:nvPicPr>
        <p:blipFill>
          <a:blip r:embed="rId3"/>
          <a:stretch>
            <a:fillRect/>
          </a:stretch>
        </p:blipFill>
        <p:spPr>
          <a:xfrm>
            <a:off x="125418" y="2400300"/>
            <a:ext cx="3549768" cy="2145324"/>
          </a:xfrm>
          <a:prstGeom prst="rect">
            <a:avLst/>
          </a:prstGeom>
        </p:spPr>
      </p:pic>
      <p:pic>
        <p:nvPicPr>
          <p:cNvPr id="7" name="Picture 6"/>
          <p:cNvPicPr>
            <a:picLocks noChangeAspect="1"/>
          </p:cNvPicPr>
          <p:nvPr/>
        </p:nvPicPr>
        <p:blipFill>
          <a:blip r:embed="rId4"/>
          <a:stretch>
            <a:fillRect/>
          </a:stretch>
        </p:blipFill>
        <p:spPr>
          <a:xfrm>
            <a:off x="125417" y="4756639"/>
            <a:ext cx="3549769" cy="371527"/>
          </a:xfrm>
          <a:prstGeom prst="rect">
            <a:avLst/>
          </a:prstGeom>
        </p:spPr>
      </p:pic>
      <p:pic>
        <p:nvPicPr>
          <p:cNvPr id="8" name="Picture 7"/>
          <p:cNvPicPr>
            <a:picLocks noChangeAspect="1"/>
          </p:cNvPicPr>
          <p:nvPr/>
        </p:nvPicPr>
        <p:blipFill>
          <a:blip r:embed="rId5"/>
          <a:stretch>
            <a:fillRect/>
          </a:stretch>
        </p:blipFill>
        <p:spPr>
          <a:xfrm>
            <a:off x="4322884" y="160927"/>
            <a:ext cx="7502770" cy="4033004"/>
          </a:xfrm>
          <a:prstGeom prst="rect">
            <a:avLst/>
          </a:prstGeom>
        </p:spPr>
      </p:pic>
      <p:pic>
        <p:nvPicPr>
          <p:cNvPr id="10" name="Picture 9"/>
          <p:cNvPicPr>
            <a:picLocks noChangeAspect="1"/>
          </p:cNvPicPr>
          <p:nvPr/>
        </p:nvPicPr>
        <p:blipFill>
          <a:blip r:embed="rId6"/>
          <a:stretch>
            <a:fillRect/>
          </a:stretch>
        </p:blipFill>
        <p:spPr>
          <a:xfrm>
            <a:off x="4322883" y="4198665"/>
            <a:ext cx="2860431" cy="1147058"/>
          </a:xfrm>
          <a:prstGeom prst="rect">
            <a:avLst/>
          </a:prstGeom>
        </p:spPr>
      </p:pic>
    </p:spTree>
    <p:extLst>
      <p:ext uri="{BB962C8B-B14F-4D97-AF65-F5344CB8AC3E}">
        <p14:creationId xmlns:p14="http://schemas.microsoft.com/office/powerpoint/2010/main" val="1660252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63A63-E30E-0694-B089-838C7E389AF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E8F526A-5F54-0308-7336-A6E081606439}"/>
              </a:ext>
            </a:extLst>
          </p:cNvPr>
          <p:cNvSpPr>
            <a:spLocks noGrp="1"/>
          </p:cNvSpPr>
          <p:nvPr>
            <p:ph type="title"/>
          </p:nvPr>
        </p:nvSpPr>
        <p:spPr>
          <a:xfrm>
            <a:off x="1180618" y="365125"/>
            <a:ext cx="10173182" cy="1128009"/>
          </a:xfrm>
        </p:spPr>
        <p:txBody>
          <a:bodyPr/>
          <a:lstStyle/>
          <a:p>
            <a:pPr algn="ctr"/>
            <a:r>
              <a:rPr lang="en-US" b="1" dirty="0"/>
              <a:t>Conclusion</a:t>
            </a:r>
          </a:p>
        </p:txBody>
      </p:sp>
      <p:sp>
        <p:nvSpPr>
          <p:cNvPr id="5" name="Date Placeholder 4">
            <a:extLst>
              <a:ext uri="{FF2B5EF4-FFF2-40B4-BE49-F238E27FC236}">
                <a16:creationId xmlns:a16="http://schemas.microsoft.com/office/drawing/2014/main" id="{82A84C9A-73D1-DA76-6E0C-91C24CB8321A}"/>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CB81726C-C351-8876-43C7-C9B8807EA560}"/>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36E4E02D-0287-0F0D-A891-AE869E4F0992}"/>
              </a:ext>
            </a:extLst>
          </p:cNvPr>
          <p:cNvSpPr>
            <a:spLocks noGrp="1"/>
          </p:cNvSpPr>
          <p:nvPr>
            <p:ph type="sldNum" sz="quarter" idx="12"/>
          </p:nvPr>
        </p:nvSpPr>
        <p:spPr/>
        <p:txBody>
          <a:bodyPr/>
          <a:lstStyle/>
          <a:p>
            <a:fld id="{B961B71F-4B40-8942-BB88-E0F5C0B46E10}" type="slidenum">
              <a:rPr lang="en-US" smtClean="0"/>
              <a:t>13</a:t>
            </a:fld>
            <a:endParaRPr lang="en-US"/>
          </a:p>
        </p:txBody>
      </p:sp>
      <p:sp>
        <p:nvSpPr>
          <p:cNvPr id="2" name="Content Placeholder 1"/>
          <p:cNvSpPr>
            <a:spLocks noGrp="1" noChangeArrowheads="1"/>
          </p:cNvSpPr>
          <p:nvPr>
            <p:ph idx="1"/>
          </p:nvPr>
        </p:nvSpPr>
        <p:spPr bwMode="auto">
          <a:xfrm>
            <a:off x="402335" y="1677275"/>
            <a:ext cx="11301985"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Arial" panose="020B0604020202020204" pitchFamily="34" charset="0"/>
              </a:rPr>
              <a:t>The project demonstrates how </a:t>
            </a:r>
            <a:r>
              <a:rPr kumimoji="0" lang="en-US" altLang="en-US" sz="2000" i="0" u="none" strike="noStrike" cap="none" normalizeH="0" baseline="0" dirty="0" smtClean="0">
                <a:ln>
                  <a:noFill/>
                </a:ln>
                <a:solidFill>
                  <a:schemeClr val="tx1"/>
                </a:solidFill>
                <a:effectLst/>
                <a:latin typeface="Arial" panose="020B0604020202020204" pitchFamily="34" charset="0"/>
              </a:rPr>
              <a:t>HTML, CSS, and JavaScript </a:t>
            </a:r>
            <a:r>
              <a:rPr kumimoji="0" lang="en-US" altLang="en-US" sz="2000" b="0" i="0" u="none" strike="noStrike" cap="none" normalizeH="0" baseline="0" dirty="0" smtClean="0">
                <a:ln>
                  <a:noFill/>
                </a:ln>
                <a:solidFill>
                  <a:schemeClr val="tx1"/>
                </a:solidFill>
                <a:effectLst/>
                <a:latin typeface="Arial" panose="020B0604020202020204" pitchFamily="34" charset="0"/>
              </a:rPr>
              <a:t>can be used to develop a web-based ATM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Arial" panose="020B0604020202020204" pitchFamily="34" charset="0"/>
              </a:rPr>
              <a:t>It implements </a:t>
            </a:r>
            <a:r>
              <a:rPr kumimoji="0" lang="en-US" altLang="en-US" sz="2000" i="0" u="none" strike="noStrike" cap="none" normalizeH="0" baseline="0" dirty="0" smtClean="0">
                <a:ln>
                  <a:noFill/>
                </a:ln>
                <a:solidFill>
                  <a:schemeClr val="tx1"/>
                </a:solidFill>
                <a:effectLst/>
                <a:latin typeface="Arial" panose="020B0604020202020204" pitchFamily="34" charset="0"/>
              </a:rPr>
              <a:t>multi-level authentication using mobile number, OTP verification, and PIN login</a:t>
            </a:r>
            <a:r>
              <a:rPr kumimoji="0" lang="en-US" altLang="en-US" sz="2000" b="0" i="0" u="none" strike="noStrike" cap="none" normalizeH="0" baseline="0" dirty="0" smtClean="0">
                <a:ln>
                  <a:noFill/>
                </a:ln>
                <a:solidFill>
                  <a:schemeClr val="tx1"/>
                </a:solidFill>
                <a:effectLst/>
                <a:latin typeface="Arial" panose="020B0604020202020204" pitchFamily="34" charset="0"/>
              </a:rPr>
              <a:t> for better security.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Arial" panose="020B0604020202020204" pitchFamily="34" charset="0"/>
              </a:rPr>
              <a:t>The system allows users to perform </a:t>
            </a:r>
            <a:r>
              <a:rPr kumimoji="0" lang="en-US" altLang="en-US" sz="2000" i="0" u="none" strike="noStrike" cap="none" normalizeH="0" baseline="0" dirty="0" smtClean="0">
                <a:ln>
                  <a:noFill/>
                </a:ln>
                <a:solidFill>
                  <a:schemeClr val="tx1"/>
                </a:solidFill>
                <a:effectLst/>
                <a:latin typeface="Arial" panose="020B0604020202020204" pitchFamily="34" charset="0"/>
              </a:rPr>
              <a:t>deposit, withdrawal, and money transfer operations </a:t>
            </a:r>
            <a:r>
              <a:rPr kumimoji="0" lang="en-US" altLang="en-US" sz="2000" b="0" i="0" u="none" strike="noStrike" cap="none" normalizeH="0" baseline="0" dirty="0" smtClean="0">
                <a:ln>
                  <a:noFill/>
                </a:ln>
                <a:solidFill>
                  <a:schemeClr val="tx1"/>
                </a:solidFill>
                <a:effectLst/>
                <a:latin typeface="Arial" panose="020B0604020202020204" pitchFamily="34" charset="0"/>
              </a:rPr>
              <a:t>easily.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Arial" panose="020B0604020202020204" pitchFamily="34" charset="0"/>
              </a:rPr>
              <a:t>It maintains </a:t>
            </a:r>
            <a:r>
              <a:rPr kumimoji="0" lang="en-US" altLang="en-US" sz="2000" i="0" u="none" strike="noStrike" cap="none" normalizeH="0" baseline="0" dirty="0" smtClean="0">
                <a:ln>
                  <a:noFill/>
                </a:ln>
                <a:solidFill>
                  <a:schemeClr val="tx1"/>
                </a:solidFill>
                <a:effectLst/>
                <a:latin typeface="Arial" panose="020B0604020202020204" pitchFamily="34" charset="0"/>
              </a:rPr>
              <a:t>transaction history and displays the last five transactions </a:t>
            </a:r>
            <a:r>
              <a:rPr kumimoji="0" lang="en-US" altLang="en-US" sz="2000" b="0" i="0" u="none" strike="noStrike" cap="none" normalizeH="0" baseline="0" dirty="0" smtClean="0">
                <a:ln>
                  <a:noFill/>
                </a:ln>
                <a:solidFill>
                  <a:schemeClr val="tx1"/>
                </a:solidFill>
                <a:effectLst/>
                <a:latin typeface="Arial" panose="020B0604020202020204" pitchFamily="34" charset="0"/>
              </a:rPr>
              <a:t>for user reference.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Arial" panose="020B0604020202020204" pitchFamily="34" charset="0"/>
              </a:rPr>
              <a:t>Additional features like </a:t>
            </a:r>
            <a:r>
              <a:rPr kumimoji="0" lang="en-US" altLang="en-US" sz="2000" i="0" u="none" strike="noStrike" cap="none" normalizeH="0" baseline="0" dirty="0" smtClean="0">
                <a:ln>
                  <a:noFill/>
                </a:ln>
                <a:solidFill>
                  <a:schemeClr val="tx1"/>
                </a:solidFill>
                <a:effectLst/>
                <a:latin typeface="Arial" panose="020B0604020202020204" pitchFamily="34" charset="0"/>
              </a:rPr>
              <a:t>QR code generation and PDF account statement download</a:t>
            </a:r>
            <a:r>
              <a:rPr kumimoji="0" lang="en-US" altLang="en-US" sz="2000" b="0" i="0" u="none" strike="noStrike" cap="none" normalizeH="0" baseline="0" dirty="0" smtClean="0">
                <a:ln>
                  <a:noFill/>
                </a:ln>
                <a:solidFill>
                  <a:schemeClr val="tx1"/>
                </a:solidFill>
                <a:effectLst/>
                <a:latin typeface="Arial" panose="020B0604020202020204" pitchFamily="34" charset="0"/>
              </a:rPr>
              <a:t> improve functionality.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Arial" panose="020B0604020202020204" pitchFamily="34" charset="0"/>
              </a:rPr>
              <a:t>The system provides a </a:t>
            </a:r>
            <a:r>
              <a:rPr kumimoji="0" lang="en-US" altLang="en-US" sz="2000" i="0" u="none" strike="noStrike" cap="none" normalizeH="0" baseline="0" dirty="0" smtClean="0">
                <a:ln>
                  <a:noFill/>
                </a:ln>
                <a:solidFill>
                  <a:schemeClr val="tx1"/>
                </a:solidFill>
                <a:effectLst/>
                <a:latin typeface="Arial" panose="020B0604020202020204" pitchFamily="34" charset="0"/>
              </a:rPr>
              <a:t>simple and user-friendly interface </a:t>
            </a:r>
            <a:r>
              <a:rPr kumimoji="0" lang="en-US" altLang="en-US" sz="2000" b="0" i="0" u="none" strike="noStrike" cap="none" normalizeH="0" baseline="0" dirty="0" smtClean="0">
                <a:ln>
                  <a:noFill/>
                </a:ln>
                <a:solidFill>
                  <a:schemeClr val="tx1"/>
                </a:solidFill>
                <a:effectLst/>
                <a:latin typeface="Arial" panose="020B0604020202020204" pitchFamily="34" charset="0"/>
              </a:rPr>
              <a:t>for banking operations.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Arial" panose="020B0604020202020204" pitchFamily="34" charset="0"/>
              </a:rPr>
              <a:t>It enhances </a:t>
            </a:r>
            <a:r>
              <a:rPr kumimoji="0" lang="en-US" altLang="en-US" sz="2000" i="0" u="none" strike="noStrike" cap="none" normalizeH="0" baseline="0" dirty="0" smtClean="0">
                <a:ln>
                  <a:noFill/>
                </a:ln>
                <a:solidFill>
                  <a:schemeClr val="tx1"/>
                </a:solidFill>
                <a:effectLst/>
                <a:latin typeface="Arial" panose="020B0604020202020204" pitchFamily="34" charset="0"/>
              </a:rPr>
              <a:t>security, efficiency, and convenience </a:t>
            </a:r>
            <a:r>
              <a:rPr kumimoji="0" lang="en-US" altLang="en-US" sz="2000" b="0" i="0" u="none" strike="noStrike" cap="none" normalizeH="0" baseline="0" dirty="0" smtClean="0">
                <a:ln>
                  <a:noFill/>
                </a:ln>
                <a:solidFill>
                  <a:schemeClr val="tx1"/>
                </a:solidFill>
                <a:effectLst/>
                <a:latin typeface="Arial" panose="020B0604020202020204" pitchFamily="34" charset="0"/>
              </a:rPr>
              <a:t>in digital banking services.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Arial" panose="020B0604020202020204" pitchFamily="34" charset="0"/>
              </a:rPr>
              <a:t>The project helps in gaining </a:t>
            </a:r>
            <a:r>
              <a:rPr kumimoji="0" lang="en-US" altLang="en-US" sz="2000" i="0" u="none" strike="noStrike" cap="none" normalizeH="0" baseline="0" dirty="0" smtClean="0">
                <a:ln>
                  <a:noFill/>
                </a:ln>
                <a:solidFill>
                  <a:schemeClr val="tx1"/>
                </a:solidFill>
                <a:effectLst/>
                <a:latin typeface="Arial" panose="020B0604020202020204" pitchFamily="34" charset="0"/>
              </a:rPr>
              <a:t>practical knowledge of web development and system implementation</a:t>
            </a:r>
            <a:r>
              <a:rPr kumimoji="0" lang="en-US" altLang="en-US" sz="180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589121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48258-F0F3-1EE4-1AB3-DB04AD69E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961B8-8709-0718-F6D3-9D07622F76AF}"/>
              </a:ext>
            </a:extLst>
          </p:cNvPr>
          <p:cNvSpPr>
            <a:spLocks noGrp="1"/>
          </p:cNvSpPr>
          <p:nvPr>
            <p:ph type="title"/>
          </p:nvPr>
        </p:nvSpPr>
        <p:spPr/>
        <p:txBody>
          <a:bodyPr/>
          <a:lstStyle/>
          <a:p>
            <a:r>
              <a:rPr lang="en-US" dirty="0"/>
              <a:t>Geo- Tag Photos</a:t>
            </a:r>
          </a:p>
        </p:txBody>
      </p:sp>
      <p:pic>
        <p:nvPicPr>
          <p:cNvPr id="7" name="Content Placeholder 6"/>
          <p:cNvPicPr>
            <a:picLocks noGrp="1" noChangeAspect="1"/>
          </p:cNvPicPr>
          <p:nvPr>
            <p:ph idx="1"/>
          </p:nvPr>
        </p:nvPicPr>
        <p:blipFill>
          <a:blip r:embed="rId2"/>
          <a:stretch>
            <a:fillRect/>
          </a:stretch>
        </p:blipFill>
        <p:spPr>
          <a:xfrm>
            <a:off x="334108" y="2057400"/>
            <a:ext cx="4835769" cy="3420208"/>
          </a:xfrm>
          <a:prstGeom prst="rect">
            <a:avLst/>
          </a:prstGeom>
        </p:spPr>
      </p:pic>
      <p:sp>
        <p:nvSpPr>
          <p:cNvPr id="4" name="Date Placeholder 3">
            <a:extLst>
              <a:ext uri="{FF2B5EF4-FFF2-40B4-BE49-F238E27FC236}">
                <a16:creationId xmlns:a16="http://schemas.microsoft.com/office/drawing/2014/main" id="{5B18EAAE-4073-261B-4850-9857C07DBAF0}"/>
              </a:ext>
            </a:extLst>
          </p:cNvPr>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a:extLst>
              <a:ext uri="{FF2B5EF4-FFF2-40B4-BE49-F238E27FC236}">
                <a16:creationId xmlns:a16="http://schemas.microsoft.com/office/drawing/2014/main" id="{A3CA2172-0EFE-3ADA-47FA-029EF21AB5B8}"/>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C3E9B8A7-6131-D012-7DA4-A9F36B2B1525}"/>
              </a:ext>
            </a:extLst>
          </p:cNvPr>
          <p:cNvSpPr>
            <a:spLocks noGrp="1"/>
          </p:cNvSpPr>
          <p:nvPr>
            <p:ph type="sldNum" sz="quarter" idx="12"/>
          </p:nvPr>
        </p:nvSpPr>
        <p:spPr/>
        <p:txBody>
          <a:bodyPr/>
          <a:lstStyle/>
          <a:p>
            <a:fld id="{B961B71F-4B40-8942-BB88-E0F5C0B46E10}" type="slidenum">
              <a:rPr lang="en-US" smtClean="0"/>
              <a:t>14</a:t>
            </a:fld>
            <a:endParaRPr lang="en-US"/>
          </a:p>
        </p:txBody>
      </p:sp>
      <p:pic>
        <p:nvPicPr>
          <p:cNvPr id="8" name="Picture 7"/>
          <p:cNvPicPr>
            <a:picLocks noChangeAspect="1"/>
          </p:cNvPicPr>
          <p:nvPr/>
        </p:nvPicPr>
        <p:blipFill>
          <a:blip r:embed="rId3"/>
          <a:stretch>
            <a:fillRect/>
          </a:stretch>
        </p:blipFill>
        <p:spPr>
          <a:xfrm>
            <a:off x="6128237" y="2057401"/>
            <a:ext cx="5026243" cy="3420208"/>
          </a:xfrm>
          <a:prstGeom prst="rect">
            <a:avLst/>
          </a:prstGeom>
        </p:spPr>
      </p:pic>
    </p:spTree>
    <p:extLst>
      <p:ext uri="{BB962C8B-B14F-4D97-AF65-F5344CB8AC3E}">
        <p14:creationId xmlns:p14="http://schemas.microsoft.com/office/powerpoint/2010/main" val="23574719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7AAD6276-EBF6-BB4A-A6C6-114A8D55B891}" type="datetime1">
              <a:rPr lang="en-IN" smtClean="0"/>
              <a:t>09-03-2026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15</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5233</TotalTime>
  <Words>1124</Words>
  <Application>Microsoft Office PowerPoint</Application>
  <PresentationFormat>Widescreen</PresentationFormat>
  <Paragraphs>162</Paragraphs>
  <Slides>15</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15</vt:i4>
      </vt:variant>
    </vt:vector>
  </HeadingPairs>
  <TitlesOfParts>
    <vt:vector size="20" baseType="lpstr">
      <vt:lpstr>Arial</vt:lpstr>
      <vt:lpstr>Calibri</vt:lpstr>
      <vt:lpstr>Calibri Light</vt:lpstr>
      <vt:lpstr>Office Theme</vt:lpstr>
      <vt:lpstr>Custom Design</vt:lpstr>
      <vt:lpstr>Title:ATM Machine Digital Transaction model</vt:lpstr>
      <vt:lpstr>Abstract</vt:lpstr>
      <vt:lpstr> Existing System </vt:lpstr>
      <vt:lpstr>Proposed System</vt:lpstr>
      <vt:lpstr>System Architecture</vt:lpstr>
      <vt:lpstr>Project Modules</vt:lpstr>
      <vt:lpstr>Objectives</vt:lpstr>
      <vt:lpstr>Co’s Attainments - FWD</vt:lpstr>
      <vt:lpstr>Co’s Attainments - DSA</vt:lpstr>
      <vt:lpstr>Screenshots for FWD &amp; DSA</vt:lpstr>
      <vt:lpstr>PowerPoint Presentation</vt:lpstr>
      <vt:lpstr>PowerPoint Presentation</vt:lpstr>
      <vt:lpstr>Conclusion</vt:lpstr>
      <vt:lpstr>Geo- Tag Photos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Bhargavi V</cp:lastModifiedBy>
  <cp:revision>66</cp:revision>
  <dcterms:created xsi:type="dcterms:W3CDTF">2022-05-20T10:20:31Z</dcterms:created>
  <dcterms:modified xsi:type="dcterms:W3CDTF">2026-03-09T07:57:35Z</dcterms:modified>
</cp:coreProperties>
</file>